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Calibri (MS) Bold" charset="1" panose="020F0702030404030204"/>
      <p:regular r:id="rId26"/>
    </p:embeddedFont>
    <p:embeddedFont>
      <p:font typeface="Calibri (MS)" charset="1" panose="020F0502020204030204"/>
      <p:regular r:id="rId27"/>
    </p:embeddedFont>
    <p:embeddedFont>
      <p:font typeface="Tajawal Bold" charset="1" panose="00000800000000000000"/>
      <p:regular r:id="rId28"/>
    </p:embeddedFont>
    <p:embeddedFont>
      <p:font typeface="Cairo Bold" charset="1" panose="00000800000000000000"/>
      <p:regular r:id="rId29"/>
    </p:embeddedFont>
    <p:embeddedFont>
      <p:font typeface="Tajawal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9.jpe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A3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02000" y="6179115"/>
            <a:ext cx="1143000" cy="57150"/>
            <a:chOff x="0" y="0"/>
            <a:chExt cx="152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944600" y="3181874"/>
            <a:ext cx="3200400" cy="442912"/>
            <a:chOff x="0" y="0"/>
            <a:chExt cx="4267200" cy="590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67200" cy="590550"/>
            </a:xfrm>
            <a:custGeom>
              <a:avLst/>
              <a:gdLst/>
              <a:ahLst/>
              <a:cxnLst/>
              <a:rect r="r" b="b" t="t" l="l"/>
              <a:pathLst>
                <a:path h="590550" w="4267200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3971925" y="0"/>
                  </a:lnTo>
                  <a:cubicBezTo>
                    <a:pt x="4134993" y="0"/>
                    <a:pt x="4267200" y="132207"/>
                    <a:pt x="4267200" y="295275"/>
                  </a:cubicBezTo>
                  <a:cubicBezTo>
                    <a:pt x="4267200" y="458343"/>
                    <a:pt x="4134993" y="590550"/>
                    <a:pt x="3971925" y="590550"/>
                  </a:cubicBezTo>
                  <a:lnTo>
                    <a:pt x="295275" y="590550"/>
                  </a:lnTo>
                  <a:cubicBezTo>
                    <a:pt x="132207" y="590550"/>
                    <a:pt x="0" y="458343"/>
                    <a:pt x="0" y="295275"/>
                  </a:cubicBezTo>
                  <a:close/>
                </a:path>
              </a:pathLst>
            </a:custGeom>
            <a:solidFill>
              <a:srgbClr val="C06C38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430306" y="3891486"/>
            <a:ext cx="2574107" cy="116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20"/>
              </a:lnSpc>
            </a:pPr>
            <a:r>
              <a:rPr lang="en-US" sz="7200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7200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</a:t>
            </a:r>
            <a:r>
              <a:rPr lang="en-US" sz="7200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ar-EG" sz="7200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سَنَد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9762" y="5087684"/>
            <a:ext cx="8758238" cy="634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3"/>
              </a:lnSpc>
            </a:pPr>
            <a:r>
              <a:rPr lang="ar-EG" sz="2925" b="true">
                <a:solidFill>
                  <a:srgbClr val="D4B896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منصة ذكية لدعم الصحة النفسية للشباب الليبي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64170" y="6474390"/>
            <a:ext cx="10129838" cy="78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5959"/>
              </a:lnSpc>
            </a:pPr>
            <a:r>
              <a:rPr lang="ar-EG" sz="3724">
                <a:solidFill>
                  <a:srgbClr val="F7F3ED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إعداد : المجموعة الرابعة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173200" y="3229499"/>
            <a:ext cx="2886075" cy="309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ar-EG" sz="18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ذكاء اصطناعي + دعم بشري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2235462" y="3403330"/>
            <a:ext cx="8885872" cy="888587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77036" y="3800475"/>
            <a:ext cx="10196564" cy="2214562"/>
            <a:chOff x="0" y="0"/>
            <a:chExt cx="13595419" cy="29527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595420" cy="2952750"/>
            </a:xfrm>
            <a:custGeom>
              <a:avLst/>
              <a:gdLst/>
              <a:ahLst/>
              <a:cxnLst/>
              <a:rect r="r" b="b" t="t" l="l"/>
              <a:pathLst>
                <a:path h="2952750" w="13595420">
                  <a:moveTo>
                    <a:pt x="0" y="304800"/>
                  </a:moveTo>
                  <a:cubicBezTo>
                    <a:pt x="0" y="136398"/>
                    <a:pt x="173827" y="0"/>
                    <a:pt x="388441" y="0"/>
                  </a:cubicBezTo>
                  <a:lnTo>
                    <a:pt x="13206978" y="0"/>
                  </a:lnTo>
                  <a:cubicBezTo>
                    <a:pt x="13421430" y="0"/>
                    <a:pt x="13595420" y="136398"/>
                    <a:pt x="13595420" y="304800"/>
                  </a:cubicBezTo>
                  <a:lnTo>
                    <a:pt x="13595420" y="2647950"/>
                  </a:lnTo>
                  <a:cubicBezTo>
                    <a:pt x="13595420" y="2816225"/>
                    <a:pt x="13421592" y="2952750"/>
                    <a:pt x="13206978" y="2952750"/>
                  </a:cubicBezTo>
                  <a:lnTo>
                    <a:pt x="388441" y="2952750"/>
                  </a:lnTo>
                  <a:cubicBezTo>
                    <a:pt x="173989" y="2952750"/>
                    <a:pt x="0" y="2816352"/>
                    <a:pt x="0" y="26479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77036" y="6300788"/>
            <a:ext cx="10196564" cy="1828800"/>
            <a:chOff x="0" y="0"/>
            <a:chExt cx="13595419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59542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3595420">
                  <a:moveTo>
                    <a:pt x="0" y="304800"/>
                  </a:moveTo>
                  <a:cubicBezTo>
                    <a:pt x="0" y="136525"/>
                    <a:pt x="173989" y="0"/>
                    <a:pt x="388441" y="0"/>
                  </a:cubicBezTo>
                  <a:lnTo>
                    <a:pt x="13206978" y="0"/>
                  </a:lnTo>
                  <a:cubicBezTo>
                    <a:pt x="13421430" y="0"/>
                    <a:pt x="13595420" y="136525"/>
                    <a:pt x="13595420" y="304800"/>
                  </a:cubicBezTo>
                  <a:lnTo>
                    <a:pt x="13595420" y="2133600"/>
                  </a:lnTo>
                  <a:cubicBezTo>
                    <a:pt x="13595420" y="2301875"/>
                    <a:pt x="13421430" y="2438400"/>
                    <a:pt x="13206978" y="2438400"/>
                  </a:cubicBezTo>
                  <a:lnTo>
                    <a:pt x="388441" y="2438400"/>
                  </a:lnTo>
                  <a:cubicBezTo>
                    <a:pt x="173989" y="2438400"/>
                    <a:pt x="0" y="2301875"/>
                    <a:pt x="0" y="21336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316450" y="3800475"/>
            <a:ext cx="57150" cy="2214562"/>
            <a:chOff x="0" y="0"/>
            <a:chExt cx="76200" cy="2952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2952750"/>
            </a:xfrm>
            <a:custGeom>
              <a:avLst/>
              <a:gdLst/>
              <a:ahLst/>
              <a:cxnLst/>
              <a:rect r="r" b="b" t="t" l="l"/>
              <a:pathLst>
                <a:path h="2952750" w="76200">
                  <a:moveTo>
                    <a:pt x="0" y="0"/>
                  </a:moveTo>
                  <a:lnTo>
                    <a:pt x="76200" y="0"/>
                  </a:lnTo>
                  <a:lnTo>
                    <a:pt x="76200" y="2952750"/>
                  </a:lnTo>
                  <a:lnTo>
                    <a:pt x="0" y="295275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316450" y="6300788"/>
            <a:ext cx="57150" cy="1828800"/>
            <a:chOff x="0" y="0"/>
            <a:chExt cx="762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76200">
                  <a:moveTo>
                    <a:pt x="0" y="0"/>
                  </a:moveTo>
                  <a:lnTo>
                    <a:pt x="76200" y="0"/>
                  </a:lnTo>
                  <a:lnTo>
                    <a:pt x="762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630650" y="4329112"/>
            <a:ext cx="285750" cy="285750"/>
            <a:chOff x="0" y="0"/>
            <a:chExt cx="381000" cy="3810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630650" y="6829425"/>
            <a:ext cx="285750" cy="285750"/>
            <a:chOff x="0" y="0"/>
            <a:chExt cx="381000" cy="3810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566231" y="1443038"/>
            <a:ext cx="5443538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تحديد الواقع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2938" y="2257425"/>
            <a:ext cx="5715714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المشكلة والتحدي الرئيسي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03744" y="4150519"/>
            <a:ext cx="7384256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ضغوط متزايدة دون توجيه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93197" y="4723087"/>
            <a:ext cx="9166078" cy="953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98"/>
              </a:lnSpc>
            </a:pPr>
            <a:r>
              <a:rPr lang="ar-EG" sz="2465">
                <a:solidFill>
                  <a:srgbClr val="4A3525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تراكم الضغوط النفسية والدراسية والاجتماعية والمهنية لدى الشباب مع غياب الوعي بظروفها</a:t>
            </a:r>
            <a:r>
              <a:rPr lang="en-US" sz="2465">
                <a:solidFill>
                  <a:srgbClr val="4A3525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544623" y="6650831"/>
            <a:ext cx="7384256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التحدي المحوري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39350" y="7210425"/>
            <a:ext cx="10394803" cy="494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7"/>
              </a:lnSpc>
            </a:pPr>
            <a:r>
              <a:rPr lang="ar-EG" sz="2471">
                <a:solidFill>
                  <a:srgbClr val="4A3525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توفير وسيلة آمنة ومتاحة تفهم طبيعة الضغط وتوجه للدعم المناسب</a:t>
            </a:r>
            <a:r>
              <a:rPr lang="en-US" sz="2471">
                <a:solidFill>
                  <a:srgbClr val="4A3525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1675476">
            <a:off x="-1658464" y="5626796"/>
            <a:ext cx="7388551" cy="5340928"/>
            <a:chOff x="0" y="0"/>
            <a:chExt cx="5265420" cy="380619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510" y="15240"/>
              <a:ext cx="5233670" cy="3774440"/>
            </a:xfrm>
            <a:custGeom>
              <a:avLst/>
              <a:gdLst/>
              <a:ahLst/>
              <a:cxnLst/>
              <a:rect r="r" b="b" t="t" l="l"/>
              <a:pathLst>
                <a:path h="3774440" w="5233670">
                  <a:moveTo>
                    <a:pt x="5233670" y="2413000"/>
                  </a:moveTo>
                  <a:cubicBezTo>
                    <a:pt x="5233670" y="3249930"/>
                    <a:pt x="5233670" y="3774440"/>
                    <a:pt x="5233670" y="3774440"/>
                  </a:cubicBezTo>
                  <a:lnTo>
                    <a:pt x="2616200" y="3774440"/>
                  </a:lnTo>
                  <a:lnTo>
                    <a:pt x="0" y="3774440"/>
                  </a:lnTo>
                  <a:cubicBezTo>
                    <a:pt x="0" y="3774440"/>
                    <a:pt x="0" y="3248660"/>
                    <a:pt x="0" y="2413000"/>
                  </a:cubicBezTo>
                  <a:cubicBezTo>
                    <a:pt x="0" y="1577340"/>
                    <a:pt x="875030" y="0"/>
                    <a:pt x="2617470" y="0"/>
                  </a:cubicBezTo>
                  <a:cubicBezTo>
                    <a:pt x="4359910" y="0"/>
                    <a:pt x="5233670" y="1576070"/>
                    <a:pt x="5233670" y="2413000"/>
                  </a:cubicBezTo>
                  <a:close/>
                </a:path>
              </a:pathLst>
            </a:custGeom>
            <a:blipFill>
              <a:blip r:embed="rId4"/>
              <a:stretch>
                <a:fillRect l="0" t="-5291" r="0" b="-5291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65420" cy="3806190"/>
            </a:xfrm>
            <a:custGeom>
              <a:avLst/>
              <a:gdLst/>
              <a:ahLst/>
              <a:cxnLst/>
              <a:rect r="r" b="b" t="t" l="l"/>
              <a:pathLst>
                <a:path h="3806190" w="5265420">
                  <a:moveTo>
                    <a:pt x="5265420" y="3806190"/>
                  </a:moveTo>
                  <a:lnTo>
                    <a:pt x="0" y="3806190"/>
                  </a:lnTo>
                  <a:lnTo>
                    <a:pt x="0" y="2428240"/>
                  </a:lnTo>
                  <a:cubicBezTo>
                    <a:pt x="0" y="1955800"/>
                    <a:pt x="259080" y="1355090"/>
                    <a:pt x="659130" y="897890"/>
                  </a:cubicBezTo>
                  <a:cubicBezTo>
                    <a:pt x="1018540" y="488950"/>
                    <a:pt x="1652270" y="0"/>
                    <a:pt x="2632710" y="0"/>
                  </a:cubicBezTo>
                  <a:cubicBezTo>
                    <a:pt x="3614420" y="0"/>
                    <a:pt x="4246880" y="488950"/>
                    <a:pt x="4606290" y="897890"/>
                  </a:cubicBezTo>
                  <a:cubicBezTo>
                    <a:pt x="5006340" y="1355090"/>
                    <a:pt x="5265420" y="1955800"/>
                    <a:pt x="5265420" y="2428240"/>
                  </a:cubicBezTo>
                  <a:lnTo>
                    <a:pt x="5265420" y="3806190"/>
                  </a:lnTo>
                  <a:close/>
                  <a:moveTo>
                    <a:pt x="31750" y="3774440"/>
                  </a:moveTo>
                  <a:lnTo>
                    <a:pt x="5233670" y="3774440"/>
                  </a:lnTo>
                  <a:lnTo>
                    <a:pt x="5233670" y="2428240"/>
                  </a:lnTo>
                  <a:cubicBezTo>
                    <a:pt x="5233670" y="1963420"/>
                    <a:pt x="4978400" y="1370330"/>
                    <a:pt x="4582160" y="918210"/>
                  </a:cubicBezTo>
                  <a:cubicBezTo>
                    <a:pt x="4227830" y="514350"/>
                    <a:pt x="3601720" y="31750"/>
                    <a:pt x="2632710" y="31750"/>
                  </a:cubicBezTo>
                  <a:cubicBezTo>
                    <a:pt x="1663700" y="31750"/>
                    <a:pt x="1037590" y="514350"/>
                    <a:pt x="683260" y="919480"/>
                  </a:cubicBezTo>
                  <a:cubicBezTo>
                    <a:pt x="287020" y="1370330"/>
                    <a:pt x="31750" y="1963420"/>
                    <a:pt x="31750" y="2428240"/>
                  </a:cubicBezTo>
                  <a:lnTo>
                    <a:pt x="31750" y="3774440"/>
                  </a:lnTo>
                  <a:close/>
                </a:path>
              </a:pathLst>
            </a:custGeom>
            <a:solidFill>
              <a:srgbClr val="8D6C52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500312"/>
            <a:ext cx="16459200" cy="1919878"/>
            <a:chOff x="0" y="0"/>
            <a:chExt cx="21945600" cy="25598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59812"/>
            </a:xfrm>
            <a:custGeom>
              <a:avLst/>
              <a:gdLst/>
              <a:ahLst/>
              <a:cxnLst/>
              <a:rect r="r" b="b" t="t" l="l"/>
              <a:pathLst>
                <a:path h="2559812" w="2194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1640800" y="0"/>
                  </a:lnTo>
                  <a:cubicBezTo>
                    <a:pt x="21809075" y="0"/>
                    <a:pt x="21945600" y="136398"/>
                    <a:pt x="21945600" y="304800"/>
                  </a:cubicBezTo>
                  <a:lnTo>
                    <a:pt x="21945600" y="2255012"/>
                  </a:lnTo>
                  <a:cubicBezTo>
                    <a:pt x="21945600" y="2423287"/>
                    <a:pt x="21809202" y="2559812"/>
                    <a:pt x="21640800" y="2559812"/>
                  </a:cubicBezTo>
                  <a:lnTo>
                    <a:pt x="304800" y="2559812"/>
                  </a:lnTo>
                  <a:cubicBezTo>
                    <a:pt x="136525" y="2559812"/>
                    <a:pt x="0" y="2423414"/>
                    <a:pt x="0" y="2255012"/>
                  </a:cubicBez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15800" y="6074864"/>
            <a:ext cx="5257800" cy="2214562"/>
            <a:chOff x="0" y="0"/>
            <a:chExt cx="7010400" cy="2952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2952750"/>
            </a:xfrm>
            <a:custGeom>
              <a:avLst/>
              <a:gdLst/>
              <a:ahLst/>
              <a:cxnLst/>
              <a:rect r="r" b="b" t="t" l="l"/>
              <a:pathLst>
                <a:path h="295275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724150"/>
                  </a:lnTo>
                  <a:cubicBezTo>
                    <a:pt x="7010400" y="2850388"/>
                    <a:pt x="6908038" y="2952750"/>
                    <a:pt x="6781800" y="2952750"/>
                  </a:cubicBezTo>
                  <a:lnTo>
                    <a:pt x="228600" y="2952750"/>
                  </a:lnTo>
                  <a:cubicBezTo>
                    <a:pt x="102362" y="2952750"/>
                    <a:pt x="0" y="2850388"/>
                    <a:pt x="0" y="2724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15100" y="6074864"/>
            <a:ext cx="5257800" cy="2214562"/>
            <a:chOff x="0" y="0"/>
            <a:chExt cx="7010400" cy="29527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2952750"/>
            </a:xfrm>
            <a:custGeom>
              <a:avLst/>
              <a:gdLst/>
              <a:ahLst/>
              <a:cxnLst/>
              <a:rect r="r" b="b" t="t" l="l"/>
              <a:pathLst>
                <a:path h="295275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724150"/>
                  </a:lnTo>
                  <a:cubicBezTo>
                    <a:pt x="7010400" y="2850388"/>
                    <a:pt x="6908038" y="2952750"/>
                    <a:pt x="6781800" y="2952750"/>
                  </a:cubicBezTo>
                  <a:lnTo>
                    <a:pt x="228600" y="2952750"/>
                  </a:lnTo>
                  <a:cubicBezTo>
                    <a:pt x="102362" y="2952750"/>
                    <a:pt x="0" y="2850388"/>
                    <a:pt x="0" y="2724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074864"/>
            <a:ext cx="5257800" cy="2214562"/>
            <a:chOff x="0" y="0"/>
            <a:chExt cx="7010400" cy="29527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10400" cy="2952750"/>
            </a:xfrm>
            <a:custGeom>
              <a:avLst/>
              <a:gdLst/>
              <a:ahLst/>
              <a:cxnLst/>
              <a:rect r="r" b="b" t="t" l="l"/>
              <a:pathLst>
                <a:path h="2952750" w="701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781800" y="0"/>
                  </a:lnTo>
                  <a:cubicBezTo>
                    <a:pt x="6908038" y="0"/>
                    <a:pt x="7010400" y="102362"/>
                    <a:pt x="7010400" y="228600"/>
                  </a:cubicBezTo>
                  <a:lnTo>
                    <a:pt x="7010400" y="2724150"/>
                  </a:lnTo>
                  <a:cubicBezTo>
                    <a:pt x="7010400" y="2850388"/>
                    <a:pt x="6908038" y="2952750"/>
                    <a:pt x="6781800" y="2952750"/>
                  </a:cubicBezTo>
                  <a:lnTo>
                    <a:pt x="228600" y="2952750"/>
                  </a:lnTo>
                  <a:cubicBezTo>
                    <a:pt x="102362" y="2952750"/>
                    <a:pt x="0" y="2850388"/>
                    <a:pt x="0" y="27241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58950" y="6417764"/>
            <a:ext cx="571500" cy="457200"/>
            <a:chOff x="0" y="0"/>
            <a:chExt cx="762000" cy="6096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62000" cy="609600"/>
            </a:xfrm>
            <a:custGeom>
              <a:avLst/>
              <a:gdLst/>
              <a:ahLst/>
              <a:cxnLst/>
              <a:rect r="r" b="b" t="t" l="l"/>
              <a:pathLst>
                <a:path h="609600" w="762000">
                  <a:moveTo>
                    <a:pt x="0" y="0"/>
                  </a:moveTo>
                  <a:lnTo>
                    <a:pt x="762000" y="0"/>
                  </a:lnTo>
                  <a:lnTo>
                    <a:pt x="7620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562" r="0" b="-156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15400" y="6417764"/>
            <a:ext cx="457200" cy="457200"/>
            <a:chOff x="0" y="0"/>
            <a:chExt cx="609600" cy="6096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562" r="0" b="-156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343275" y="6417764"/>
            <a:ext cx="400050" cy="457200"/>
            <a:chOff x="0" y="0"/>
            <a:chExt cx="533400" cy="6096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33400" cy="609600"/>
            </a:xfrm>
            <a:custGeom>
              <a:avLst/>
              <a:gdLst/>
              <a:ahLst/>
              <a:cxnLst/>
              <a:rect r="r" b="b" t="t" l="l"/>
              <a:pathLst>
                <a:path h="609600" w="533400">
                  <a:moveTo>
                    <a:pt x="0" y="0"/>
                  </a:moveTo>
                  <a:lnTo>
                    <a:pt x="533400" y="0"/>
                  </a:lnTo>
                  <a:lnTo>
                    <a:pt x="5334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2" r="0" b="-1562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الرؤية المبتكرة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0" y="1326356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AI </a:t>
            </a: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الحل المقترح: سَنَد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85925" y="2993620"/>
            <a:ext cx="15687675" cy="114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ar-EG" sz="2475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مساعد رقمي ذكي يتيح للشاب التعبير بحرية، ويحلل المؤشرات النفسية لتقديم دعم أولي غير تشخيصي، مع التوجيه للمختصين</a:t>
            </a:r>
            <a:r>
              <a:rPr lang="en-US" sz="2475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744325" y="7008314"/>
            <a:ext cx="600075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تواصل مرن وآمن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87200" y="7594102"/>
            <a:ext cx="5715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محادثة نصية أو صوتية سهلة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3625" y="7008314"/>
            <a:ext cx="600075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تحليل المؤشرات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286500" y="7594102"/>
            <a:ext cx="5715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تقييم أولي لمستوى الضغط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2925" y="7008314"/>
            <a:ext cx="6000750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توجيه متخفف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5800" y="7594102"/>
            <a:ext cx="57150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ربط سلس بالمختص النفسي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601075"/>
            <a:ext cx="16459200" cy="885825"/>
            <a:chOff x="0" y="0"/>
            <a:chExt cx="21945600" cy="1181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1945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02362"/>
                    <a:pt x="21945600" y="228600"/>
                  </a:cubicBezTo>
                  <a:lnTo>
                    <a:pt x="21945600" y="952500"/>
                  </a:lnTo>
                  <a:cubicBezTo>
                    <a:pt x="21945600" y="1078738"/>
                    <a:pt x="21843237" y="1181100"/>
                    <a:pt x="21717000" y="1181100"/>
                  </a:cubicBezTo>
                  <a:lnTo>
                    <a:pt x="228600" y="1181100"/>
                  </a:lnTo>
                  <a:cubicBezTo>
                    <a:pt x="102362" y="1181100"/>
                    <a:pt x="0" y="1078738"/>
                    <a:pt x="0" y="952500"/>
                  </a:cubicBezTo>
                  <a:close/>
                </a:path>
              </a:pathLst>
            </a:custGeom>
            <a:solidFill>
              <a:srgbClr val="EBE3D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651831" y="4464844"/>
            <a:ext cx="2728912" cy="1885950"/>
            <a:chOff x="0" y="0"/>
            <a:chExt cx="3638550" cy="251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38550" cy="2514600"/>
            </a:xfrm>
            <a:custGeom>
              <a:avLst/>
              <a:gdLst/>
              <a:ahLst/>
              <a:cxnLst/>
              <a:rect r="r" b="b" t="t" l="l"/>
              <a:pathLst>
                <a:path h="2514600" w="3638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3408172" y="0"/>
                  </a:lnTo>
                  <a:cubicBezTo>
                    <a:pt x="3535426" y="0"/>
                    <a:pt x="3638550" y="103124"/>
                    <a:pt x="3638550" y="230378"/>
                  </a:cubicBezTo>
                  <a:lnTo>
                    <a:pt x="3638550" y="2284222"/>
                  </a:lnTo>
                  <a:cubicBezTo>
                    <a:pt x="3638550" y="2411476"/>
                    <a:pt x="3535426" y="2514600"/>
                    <a:pt x="3408172" y="2514600"/>
                  </a:cubicBezTo>
                  <a:lnTo>
                    <a:pt x="230378" y="2514600"/>
                  </a:lnTo>
                  <a:cubicBezTo>
                    <a:pt x="103124" y="2514600"/>
                    <a:pt x="0" y="2411476"/>
                    <a:pt x="0" y="22842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BE3D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222831" y="4464844"/>
            <a:ext cx="2728912" cy="1885950"/>
            <a:chOff x="0" y="0"/>
            <a:chExt cx="3638550" cy="25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38550" cy="2514600"/>
            </a:xfrm>
            <a:custGeom>
              <a:avLst/>
              <a:gdLst/>
              <a:ahLst/>
              <a:cxnLst/>
              <a:rect r="r" b="b" t="t" l="l"/>
              <a:pathLst>
                <a:path h="2514600" w="3638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3408172" y="0"/>
                  </a:lnTo>
                  <a:cubicBezTo>
                    <a:pt x="3535426" y="0"/>
                    <a:pt x="3638550" y="103124"/>
                    <a:pt x="3638550" y="230378"/>
                  </a:cubicBezTo>
                  <a:lnTo>
                    <a:pt x="3638550" y="2284222"/>
                  </a:lnTo>
                  <a:cubicBezTo>
                    <a:pt x="3638550" y="2411476"/>
                    <a:pt x="3535426" y="2514600"/>
                    <a:pt x="3408172" y="2514600"/>
                  </a:cubicBezTo>
                  <a:lnTo>
                    <a:pt x="230378" y="2514600"/>
                  </a:lnTo>
                  <a:cubicBezTo>
                    <a:pt x="103124" y="2514600"/>
                    <a:pt x="0" y="2411476"/>
                    <a:pt x="0" y="22842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BE3D5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7793831" y="4464844"/>
            <a:ext cx="2728912" cy="1885950"/>
            <a:chOff x="0" y="0"/>
            <a:chExt cx="3638550" cy="251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38550" cy="2514600"/>
            </a:xfrm>
            <a:custGeom>
              <a:avLst/>
              <a:gdLst/>
              <a:ahLst/>
              <a:cxnLst/>
              <a:rect r="r" b="b" t="t" l="l"/>
              <a:pathLst>
                <a:path h="2514600" w="3638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3408172" y="0"/>
                  </a:lnTo>
                  <a:cubicBezTo>
                    <a:pt x="3535426" y="0"/>
                    <a:pt x="3638550" y="103124"/>
                    <a:pt x="3638550" y="230378"/>
                  </a:cubicBezTo>
                  <a:lnTo>
                    <a:pt x="3638550" y="2284222"/>
                  </a:lnTo>
                  <a:cubicBezTo>
                    <a:pt x="3638550" y="2411476"/>
                    <a:pt x="3535426" y="2514600"/>
                    <a:pt x="3408172" y="2514600"/>
                  </a:cubicBezTo>
                  <a:lnTo>
                    <a:pt x="230378" y="2514600"/>
                  </a:lnTo>
                  <a:cubicBezTo>
                    <a:pt x="103124" y="2514600"/>
                    <a:pt x="0" y="2411476"/>
                    <a:pt x="0" y="22842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BE3D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364831" y="4464844"/>
            <a:ext cx="2728912" cy="1885950"/>
            <a:chOff x="0" y="0"/>
            <a:chExt cx="3638550" cy="2514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38550" cy="2514600"/>
            </a:xfrm>
            <a:custGeom>
              <a:avLst/>
              <a:gdLst/>
              <a:ahLst/>
              <a:cxnLst/>
              <a:rect r="r" b="b" t="t" l="l"/>
              <a:pathLst>
                <a:path h="2514600" w="3638550">
                  <a:moveTo>
                    <a:pt x="0" y="230378"/>
                  </a:moveTo>
                  <a:cubicBezTo>
                    <a:pt x="0" y="103124"/>
                    <a:pt x="103124" y="0"/>
                    <a:pt x="230378" y="0"/>
                  </a:cubicBezTo>
                  <a:lnTo>
                    <a:pt x="3408172" y="0"/>
                  </a:lnTo>
                  <a:cubicBezTo>
                    <a:pt x="3535426" y="0"/>
                    <a:pt x="3638550" y="103124"/>
                    <a:pt x="3638550" y="230378"/>
                  </a:cubicBezTo>
                  <a:lnTo>
                    <a:pt x="3638550" y="2284222"/>
                  </a:lnTo>
                  <a:cubicBezTo>
                    <a:pt x="3638550" y="2411476"/>
                    <a:pt x="3535426" y="2514600"/>
                    <a:pt x="3408172" y="2514600"/>
                  </a:cubicBezTo>
                  <a:lnTo>
                    <a:pt x="230378" y="2514600"/>
                  </a:lnTo>
                  <a:cubicBezTo>
                    <a:pt x="103124" y="2514600"/>
                    <a:pt x="0" y="2411476"/>
                    <a:pt x="0" y="2284222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BE3D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00112" y="4443412"/>
            <a:ext cx="2771775" cy="1928812"/>
            <a:chOff x="0" y="0"/>
            <a:chExt cx="3695700" cy="25717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95700" cy="2571750"/>
            </a:xfrm>
            <a:custGeom>
              <a:avLst/>
              <a:gdLst/>
              <a:ahLst/>
              <a:cxnLst/>
              <a:rect r="r" b="b" t="t" l="l"/>
              <a:pathLst>
                <a:path h="2571750" w="3695700">
                  <a:moveTo>
                    <a:pt x="0" y="232029"/>
                  </a:moveTo>
                  <a:cubicBezTo>
                    <a:pt x="0" y="103886"/>
                    <a:pt x="103886" y="0"/>
                    <a:pt x="232029" y="0"/>
                  </a:cubicBezTo>
                  <a:lnTo>
                    <a:pt x="3463671" y="0"/>
                  </a:lnTo>
                  <a:cubicBezTo>
                    <a:pt x="3591814" y="0"/>
                    <a:pt x="3695700" y="103886"/>
                    <a:pt x="3695700" y="232029"/>
                  </a:cubicBezTo>
                  <a:lnTo>
                    <a:pt x="3695700" y="2339721"/>
                  </a:lnTo>
                  <a:cubicBezTo>
                    <a:pt x="3695700" y="2467864"/>
                    <a:pt x="3591814" y="2571750"/>
                    <a:pt x="3463671" y="2571750"/>
                  </a:cubicBezTo>
                  <a:lnTo>
                    <a:pt x="232029" y="2571750"/>
                  </a:lnTo>
                  <a:cubicBezTo>
                    <a:pt x="103886" y="2571750"/>
                    <a:pt x="0" y="2467864"/>
                    <a:pt x="0" y="2339721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C06C38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759112" y="4829175"/>
            <a:ext cx="514350" cy="514350"/>
            <a:chOff x="0" y="0"/>
            <a:chExt cx="685800" cy="685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2C221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330112" y="4829175"/>
            <a:ext cx="514350" cy="514350"/>
            <a:chOff x="0" y="0"/>
            <a:chExt cx="68580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901112" y="4829175"/>
            <a:ext cx="514350" cy="514350"/>
            <a:chOff x="0" y="0"/>
            <a:chExt cx="685800" cy="685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472112" y="4829175"/>
            <a:ext cx="514350" cy="514350"/>
            <a:chOff x="0" y="0"/>
            <a:chExt cx="68580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28825" y="4829175"/>
            <a:ext cx="514350" cy="514350"/>
            <a:chOff x="0" y="0"/>
            <a:chExt cx="685800" cy="68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342900"/>
                  </a:moveTo>
                  <a:cubicBezTo>
                    <a:pt x="0" y="153543"/>
                    <a:pt x="153543" y="0"/>
                    <a:pt x="342900" y="0"/>
                  </a:cubicBezTo>
                  <a:cubicBezTo>
                    <a:pt x="532257" y="0"/>
                    <a:pt x="685800" y="153543"/>
                    <a:pt x="685800" y="342900"/>
                  </a:cubicBezTo>
                  <a:cubicBezTo>
                    <a:pt x="685800" y="532257"/>
                    <a:pt x="532257" y="685800"/>
                    <a:pt x="342900" y="685800"/>
                  </a:cubicBezTo>
                  <a:cubicBezTo>
                    <a:pt x="153543" y="685800"/>
                    <a:pt x="0" y="532257"/>
                    <a:pt x="0" y="342900"/>
                  </a:cubicBez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173200" y="5264944"/>
            <a:ext cx="257175" cy="285750"/>
            <a:chOff x="0" y="0"/>
            <a:chExt cx="342900" cy="3810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44200" y="5264944"/>
            <a:ext cx="257175" cy="285750"/>
            <a:chOff x="0" y="0"/>
            <a:chExt cx="342900" cy="3810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315200" y="5264944"/>
            <a:ext cx="257175" cy="285750"/>
            <a:chOff x="0" y="0"/>
            <a:chExt cx="342900" cy="3810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886200" y="5264944"/>
            <a:ext cx="257175" cy="285750"/>
            <a:chOff x="0" y="0"/>
            <a:chExt cx="342900" cy="3810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342900" cy="381000"/>
            </a:xfrm>
            <a:custGeom>
              <a:avLst/>
              <a:gdLst/>
              <a:ahLst/>
              <a:cxnLst/>
              <a:rect r="r" b="b" t="t" l="l"/>
              <a:pathLst>
                <a:path h="3810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00" r="0" b="-250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رحلة المستخدم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4312" y="2295031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كيف تعمل المنصة؟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-392906" y="8848725"/>
            <a:ext cx="1907381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المنصة لا تستبدل المختص، بل تعمل كحلقة وصل بين الشباب والخدمات المتخصصة</a:t>
            </a:r>
            <a:r>
              <a:rPr lang="en-US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5544800" y="4829175"/>
            <a:ext cx="942975" cy="514350"/>
            <a:chOff x="0" y="0"/>
            <a:chExt cx="1257300" cy="685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573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ajawal Bold"/>
                  <a:ea typeface="Tajawal Bold"/>
                  <a:cs typeface="Tajawal Bold"/>
                  <a:sym typeface="Tajawal Bold"/>
                </a:rPr>
                <a:t>1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553600" y="5476875"/>
            <a:ext cx="292536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المستخدم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15800" y="4829175"/>
            <a:ext cx="942975" cy="514350"/>
            <a:chOff x="0" y="0"/>
            <a:chExt cx="1257300" cy="685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2573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ajawal Bold"/>
                  <a:ea typeface="Tajawal Bold"/>
                  <a:cs typeface="Tajawal Bold"/>
                  <a:sym typeface="Tajawal Bold"/>
                </a:rPr>
                <a:t>2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124600" y="5476875"/>
            <a:ext cx="292536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سَنَد</a:t>
            </a:r>
            <a:r>
              <a:rPr lang="en-US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8686800" y="4829175"/>
            <a:ext cx="942975" cy="514350"/>
            <a:chOff x="0" y="0"/>
            <a:chExt cx="1257300" cy="685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2573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ajawal Bold"/>
                  <a:ea typeface="Tajawal Bold"/>
                  <a:cs typeface="Tajawal Bold"/>
                  <a:sym typeface="Tajawal Bold"/>
                </a:rPr>
                <a:t>3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695600" y="5476875"/>
            <a:ext cx="292536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تحليل المؤشرات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5257800" y="4829175"/>
            <a:ext cx="942975" cy="514350"/>
            <a:chOff x="0" y="0"/>
            <a:chExt cx="1257300" cy="685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2573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ajawal Bold"/>
                  <a:ea typeface="Tajawal Bold"/>
                  <a:cs typeface="Tajawal Bold"/>
                  <a:sym typeface="Tajawal Bold"/>
                </a:rPr>
                <a:t>4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266600" y="5476875"/>
            <a:ext cx="292536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تحديد الدعم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814512" y="4829175"/>
            <a:ext cx="942975" cy="514350"/>
            <a:chOff x="0" y="0"/>
            <a:chExt cx="1257300" cy="685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57300" cy="685800"/>
            </a:xfrm>
            <a:custGeom>
              <a:avLst/>
              <a:gdLst/>
              <a:ahLst/>
              <a:cxnLst/>
              <a:rect r="r" b="b" t="t" l="l"/>
              <a:pathLst>
                <a:path h="685800" w="1257300">
                  <a:moveTo>
                    <a:pt x="0" y="0"/>
                  </a:moveTo>
                  <a:lnTo>
                    <a:pt x="1257300" y="0"/>
                  </a:lnTo>
                  <a:lnTo>
                    <a:pt x="12573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257300" cy="7239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Tajawal Bold"/>
                  <a:ea typeface="Tajawal Bold"/>
                  <a:cs typeface="Tajawal Bold"/>
                  <a:sym typeface="Tajawal Bold"/>
                </a:rPr>
                <a:t>5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823312" y="5476875"/>
            <a:ext cx="2925366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مختص نفسي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715375"/>
            <a:ext cx="16459200" cy="771525"/>
            <a:chOff x="0" y="0"/>
            <a:chExt cx="21945600" cy="10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028700"/>
            </a:xfrm>
            <a:custGeom>
              <a:avLst/>
              <a:gdLst/>
              <a:ahLst/>
              <a:cxnLst/>
              <a:rect r="r" b="b" t="t" l="l"/>
              <a:pathLst>
                <a:path h="1028700" w="21945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21717000" y="0"/>
                  </a:lnTo>
                  <a:cubicBezTo>
                    <a:pt x="21843237" y="0"/>
                    <a:pt x="21945600" y="102362"/>
                    <a:pt x="21945600" y="228600"/>
                  </a:cubicBezTo>
                  <a:lnTo>
                    <a:pt x="21945600" y="800100"/>
                  </a:lnTo>
                  <a:cubicBezTo>
                    <a:pt x="21945600" y="926338"/>
                    <a:pt x="21843237" y="1028700"/>
                    <a:pt x="21717000" y="1028700"/>
                  </a:cubicBezTo>
                  <a:lnTo>
                    <a:pt x="228600" y="1028700"/>
                  </a:lnTo>
                  <a:cubicBezTo>
                    <a:pt x="102362" y="1028700"/>
                    <a:pt x="0" y="926338"/>
                    <a:pt x="0" y="800100"/>
                  </a:cubicBezTo>
                  <a:close/>
                </a:path>
              </a:pathLst>
            </a:custGeom>
            <a:solidFill>
              <a:srgbClr val="2C221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087892" y="3118247"/>
            <a:ext cx="5285708" cy="1443038"/>
            <a:chOff x="0" y="0"/>
            <a:chExt cx="7047611" cy="1924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16434" y="3118247"/>
            <a:ext cx="5285708" cy="1443038"/>
            <a:chOff x="0" y="0"/>
            <a:chExt cx="7047611" cy="1924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4985" y="3118247"/>
            <a:ext cx="5285708" cy="1443038"/>
            <a:chOff x="0" y="0"/>
            <a:chExt cx="7047611" cy="1924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087892" y="6311503"/>
            <a:ext cx="5285708" cy="1443038"/>
            <a:chOff x="0" y="0"/>
            <a:chExt cx="7047611" cy="1924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16434" y="6311503"/>
            <a:ext cx="5285708" cy="1443038"/>
            <a:chOff x="0" y="0"/>
            <a:chExt cx="7047611" cy="1924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44985" y="6311503"/>
            <a:ext cx="5285708" cy="1443038"/>
            <a:chOff x="0" y="0"/>
            <a:chExt cx="7047611" cy="192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47611" cy="1924050"/>
            </a:xfrm>
            <a:custGeom>
              <a:avLst/>
              <a:gdLst/>
              <a:ahLst/>
              <a:cxnLst/>
              <a:rect r="r" b="b" t="t" l="l"/>
              <a:pathLst>
                <a:path h="1924050" w="7047611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6819011" y="0"/>
                  </a:lnTo>
                  <a:cubicBezTo>
                    <a:pt x="6945249" y="0"/>
                    <a:pt x="7047611" y="102362"/>
                    <a:pt x="7047611" y="228600"/>
                  </a:cubicBezTo>
                  <a:lnTo>
                    <a:pt x="7047611" y="1695450"/>
                  </a:lnTo>
                  <a:cubicBezTo>
                    <a:pt x="7047611" y="1821688"/>
                    <a:pt x="6945249" y="1924050"/>
                    <a:pt x="6819011" y="1924050"/>
                  </a:cubicBezTo>
                  <a:lnTo>
                    <a:pt x="228600" y="1924050"/>
                  </a:lnTo>
                  <a:cubicBezTo>
                    <a:pt x="102362" y="1924050"/>
                    <a:pt x="0" y="1821688"/>
                    <a:pt x="0" y="16954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القدرات التكنولوجية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7200" y="1260850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دور الذكاء الاصطناعي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-357188" y="8905875"/>
            <a:ext cx="1900237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D4B896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ملاحظة هامّة: الذكاء الاصطناعي لا يقدم تشخيصاً طبيّاً ولا يصف أدوية أو قرارات علاجية</a:t>
            </a:r>
            <a:r>
              <a:rPr lang="en-US" sz="2025" b="true">
                <a:solidFill>
                  <a:srgbClr val="D4B89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59367" y="3365897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تحليل النصوص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73642" y="3923109"/>
            <a:ext cx="2998060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استخراج مؤشرات الضغط النفسي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16434" y="3365897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تصنيف الاحتياج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802184" y="3923109"/>
            <a:ext cx="2691240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تحديد مستوى الدعم المطلوب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365897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تقديم الإرشادات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0735" y="3923109"/>
            <a:ext cx="2504378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محتوى توعوي عام ومناسب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02142" y="6559153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اقتراح المسار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73642" y="7116366"/>
            <a:ext cx="58927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توجيه الذاتي أو التخصصي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16434" y="6559153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اكتشاف التدخل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02184" y="7116366"/>
            <a:ext cx="58927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تحديد الحالات الحرجة فوراً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6559153"/>
            <a:ext cx="50999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تحسين الخدمة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30735" y="7116366"/>
            <a:ext cx="589275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تحليل البيانات مجهولة الهوية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15800" y="4521994"/>
            <a:ext cx="5257800" cy="2943225"/>
            <a:chOff x="0" y="0"/>
            <a:chExt cx="7010400" cy="392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0104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010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05600" y="0"/>
                  </a:lnTo>
                  <a:cubicBezTo>
                    <a:pt x="6873875" y="0"/>
                    <a:pt x="7010400" y="136398"/>
                    <a:pt x="7010400" y="304800"/>
                  </a:cubicBezTo>
                  <a:lnTo>
                    <a:pt x="7010400" y="3619500"/>
                  </a:lnTo>
                  <a:cubicBezTo>
                    <a:pt x="7010400" y="3787775"/>
                    <a:pt x="6874002" y="3924300"/>
                    <a:pt x="6705600" y="3924300"/>
                  </a:cubicBezTo>
                  <a:lnTo>
                    <a:pt x="304800" y="3924300"/>
                  </a:lnTo>
                  <a:cubicBezTo>
                    <a:pt x="136525" y="3924300"/>
                    <a:pt x="0" y="3787902"/>
                    <a:pt x="0" y="3619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15100" y="4521994"/>
            <a:ext cx="5257800" cy="2943225"/>
            <a:chOff x="0" y="0"/>
            <a:chExt cx="7010400" cy="392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104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010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05600" y="0"/>
                  </a:lnTo>
                  <a:cubicBezTo>
                    <a:pt x="6873875" y="0"/>
                    <a:pt x="7010400" y="136398"/>
                    <a:pt x="7010400" y="304800"/>
                  </a:cubicBezTo>
                  <a:lnTo>
                    <a:pt x="7010400" y="3619500"/>
                  </a:lnTo>
                  <a:cubicBezTo>
                    <a:pt x="7010400" y="3787775"/>
                    <a:pt x="6874002" y="3924300"/>
                    <a:pt x="6705600" y="3924300"/>
                  </a:cubicBezTo>
                  <a:lnTo>
                    <a:pt x="304800" y="3924300"/>
                  </a:lnTo>
                  <a:cubicBezTo>
                    <a:pt x="136525" y="3924300"/>
                    <a:pt x="0" y="3787902"/>
                    <a:pt x="0" y="3619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4521994"/>
            <a:ext cx="5257800" cy="2943225"/>
            <a:chOff x="0" y="0"/>
            <a:chExt cx="7010400" cy="392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1040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0104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705600" y="0"/>
                  </a:lnTo>
                  <a:cubicBezTo>
                    <a:pt x="6873875" y="0"/>
                    <a:pt x="7010400" y="136398"/>
                    <a:pt x="7010400" y="304800"/>
                  </a:cubicBezTo>
                  <a:lnTo>
                    <a:pt x="7010400" y="3619500"/>
                  </a:lnTo>
                  <a:cubicBezTo>
                    <a:pt x="7010400" y="3787775"/>
                    <a:pt x="6874002" y="3924300"/>
                    <a:pt x="6705600" y="3924300"/>
                  </a:cubicBezTo>
                  <a:lnTo>
                    <a:pt x="304800" y="3924300"/>
                  </a:lnTo>
                  <a:cubicBezTo>
                    <a:pt x="136525" y="3924300"/>
                    <a:pt x="0" y="3787902"/>
                    <a:pt x="0" y="36195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387762" y="5007769"/>
            <a:ext cx="642938" cy="314325"/>
            <a:chOff x="0" y="0"/>
            <a:chExt cx="85725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7250" cy="419100"/>
            </a:xfrm>
            <a:custGeom>
              <a:avLst/>
              <a:gdLst/>
              <a:ahLst/>
              <a:cxnLst/>
              <a:rect r="r" b="b" t="t" l="l"/>
              <a:pathLst>
                <a:path h="419100" w="85725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lnTo>
                    <a:pt x="647700" y="0"/>
                  </a:lnTo>
                  <a:cubicBezTo>
                    <a:pt x="763397" y="0"/>
                    <a:pt x="857250" y="93853"/>
                    <a:pt x="857250" y="209550"/>
                  </a:cubicBezTo>
                  <a:cubicBezTo>
                    <a:pt x="857250" y="325247"/>
                    <a:pt x="763397" y="419100"/>
                    <a:pt x="647700" y="419100"/>
                  </a:cubicBezTo>
                  <a:lnTo>
                    <a:pt x="209550" y="419100"/>
                  </a:ln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15800" y="4521994"/>
            <a:ext cx="5257800" cy="57150"/>
            <a:chOff x="0" y="0"/>
            <a:chExt cx="70104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29912" y="5007769"/>
            <a:ext cx="700088" cy="314325"/>
            <a:chOff x="0" y="0"/>
            <a:chExt cx="933450" cy="419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3450" cy="419100"/>
            </a:xfrm>
            <a:custGeom>
              <a:avLst/>
              <a:gdLst/>
              <a:ahLst/>
              <a:cxnLst/>
              <a:rect r="r" b="b" t="t" l="l"/>
              <a:pathLst>
                <a:path h="419100" w="93345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lnTo>
                    <a:pt x="723900" y="0"/>
                  </a:lnTo>
                  <a:cubicBezTo>
                    <a:pt x="839597" y="0"/>
                    <a:pt x="933450" y="93853"/>
                    <a:pt x="933450" y="209550"/>
                  </a:cubicBezTo>
                  <a:cubicBezTo>
                    <a:pt x="933450" y="325247"/>
                    <a:pt x="839597" y="419100"/>
                    <a:pt x="723900" y="419100"/>
                  </a:cubicBezTo>
                  <a:lnTo>
                    <a:pt x="209550" y="419100"/>
                  </a:ln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515100" y="4521994"/>
            <a:ext cx="5257800" cy="57150"/>
            <a:chOff x="0" y="0"/>
            <a:chExt cx="7010400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129212" y="5007769"/>
            <a:ext cx="700088" cy="314325"/>
            <a:chOff x="0" y="0"/>
            <a:chExt cx="933450" cy="419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3450" cy="419100"/>
            </a:xfrm>
            <a:custGeom>
              <a:avLst/>
              <a:gdLst/>
              <a:ahLst/>
              <a:cxnLst/>
              <a:rect r="r" b="b" t="t" l="l"/>
              <a:pathLst>
                <a:path h="419100" w="933450">
                  <a:moveTo>
                    <a:pt x="0" y="209550"/>
                  </a:moveTo>
                  <a:cubicBezTo>
                    <a:pt x="0" y="93853"/>
                    <a:pt x="93853" y="0"/>
                    <a:pt x="209550" y="0"/>
                  </a:cubicBezTo>
                  <a:lnTo>
                    <a:pt x="723900" y="0"/>
                  </a:lnTo>
                  <a:cubicBezTo>
                    <a:pt x="839597" y="0"/>
                    <a:pt x="933450" y="93853"/>
                    <a:pt x="933450" y="209550"/>
                  </a:cubicBezTo>
                  <a:cubicBezTo>
                    <a:pt x="933450" y="325247"/>
                    <a:pt x="839597" y="419100"/>
                    <a:pt x="723900" y="419100"/>
                  </a:cubicBezTo>
                  <a:lnTo>
                    <a:pt x="209550" y="419100"/>
                  </a:lnTo>
                  <a:cubicBezTo>
                    <a:pt x="93853" y="419100"/>
                    <a:pt x="0" y="325247"/>
                    <a:pt x="0" y="209550"/>
                  </a:cubicBezTo>
                  <a:close/>
                </a:path>
              </a:pathLst>
            </a:custGeom>
            <a:solidFill>
              <a:srgbClr val="F7F3E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4521994"/>
            <a:ext cx="5257800" cy="57150"/>
            <a:chOff x="0" y="0"/>
            <a:chExt cx="70104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10400" cy="76200"/>
            </a:xfrm>
            <a:custGeom>
              <a:avLst/>
              <a:gdLst/>
              <a:ahLst/>
              <a:cxnLst/>
              <a:rect r="r" b="b" t="t" l="l"/>
              <a:pathLst>
                <a:path h="76200" w="7010400">
                  <a:moveTo>
                    <a:pt x="0" y="0"/>
                  </a:moveTo>
                  <a:lnTo>
                    <a:pt x="7010400" y="0"/>
                  </a:lnTo>
                  <a:lnTo>
                    <a:pt x="70104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221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البنية الأساسية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8016" y="1326356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مصادر البيانات والنماذج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59212" y="5045869"/>
            <a:ext cx="44291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أولاً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8700" y="5479256"/>
            <a:ext cx="4950619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مقاييس نفسية معتمدة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58700" y="6141244"/>
            <a:ext cx="47148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أدوات علمية مراجعة ومُعتمَدة من قبل مختصين في الصحة النفسية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01362" y="5045869"/>
            <a:ext cx="5000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ثانياً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58000" y="5479256"/>
            <a:ext cx="4950619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بيانات المستخدمين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58000" y="6141244"/>
            <a:ext cx="47148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مجمعة طوعياً بموافقة صريحة وفي بيئة تحافظ على الخصوصية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00662" y="5045869"/>
            <a:ext cx="500062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ثالثاً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7300" y="5479256"/>
            <a:ext cx="4950619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البيانات المحلية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7300" y="6141244"/>
            <a:ext cx="4714875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قاعدة بيانات ليبية مجهولة الهوية لفهم الضغوط في ليبيا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18968" y="2443162"/>
            <a:ext cx="3154632" cy="7043738"/>
            <a:chOff x="0" y="0"/>
            <a:chExt cx="4206176" cy="9391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6240" cy="9391650"/>
            </a:xfrm>
            <a:custGeom>
              <a:avLst/>
              <a:gdLst/>
              <a:ahLst/>
              <a:cxnLst/>
              <a:rect r="r" b="b" t="t" l="l"/>
              <a:pathLst>
                <a:path h="9391650" w="420624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77640" y="0"/>
                  </a:lnTo>
                  <a:cubicBezTo>
                    <a:pt x="4103878" y="0"/>
                    <a:pt x="4206240" y="102362"/>
                    <a:pt x="4206240" y="228600"/>
                  </a:cubicBezTo>
                  <a:lnTo>
                    <a:pt x="4206240" y="9163050"/>
                  </a:lnTo>
                  <a:cubicBezTo>
                    <a:pt x="4206240" y="9289288"/>
                    <a:pt x="4103878" y="9391650"/>
                    <a:pt x="3977640" y="9391650"/>
                  </a:cubicBezTo>
                  <a:lnTo>
                    <a:pt x="228600" y="9391650"/>
                  </a:lnTo>
                  <a:cubicBezTo>
                    <a:pt x="102362" y="9391650"/>
                    <a:pt x="0" y="9289288"/>
                    <a:pt x="0" y="9163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94876" y="2443162"/>
            <a:ext cx="3154632" cy="7043738"/>
            <a:chOff x="0" y="0"/>
            <a:chExt cx="4206176" cy="9391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6240" cy="9391650"/>
            </a:xfrm>
            <a:custGeom>
              <a:avLst/>
              <a:gdLst/>
              <a:ahLst/>
              <a:cxnLst/>
              <a:rect r="r" b="b" t="t" l="l"/>
              <a:pathLst>
                <a:path h="9391650" w="420624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77640" y="0"/>
                  </a:lnTo>
                  <a:cubicBezTo>
                    <a:pt x="4103878" y="0"/>
                    <a:pt x="4206240" y="102362"/>
                    <a:pt x="4206240" y="228600"/>
                  </a:cubicBezTo>
                  <a:lnTo>
                    <a:pt x="4206240" y="9163050"/>
                  </a:lnTo>
                  <a:cubicBezTo>
                    <a:pt x="4206240" y="9289288"/>
                    <a:pt x="4103878" y="9391650"/>
                    <a:pt x="3977640" y="9391650"/>
                  </a:cubicBezTo>
                  <a:lnTo>
                    <a:pt x="228600" y="9391650"/>
                  </a:lnTo>
                  <a:cubicBezTo>
                    <a:pt x="102362" y="9391650"/>
                    <a:pt x="0" y="9289288"/>
                    <a:pt x="0" y="9163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566793" y="2443162"/>
            <a:ext cx="3154632" cy="7043738"/>
            <a:chOff x="0" y="0"/>
            <a:chExt cx="4206176" cy="9391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6240" cy="9391650"/>
            </a:xfrm>
            <a:custGeom>
              <a:avLst/>
              <a:gdLst/>
              <a:ahLst/>
              <a:cxnLst/>
              <a:rect r="r" b="b" t="t" l="l"/>
              <a:pathLst>
                <a:path h="9391650" w="420624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77640" y="0"/>
                  </a:lnTo>
                  <a:cubicBezTo>
                    <a:pt x="4103878" y="0"/>
                    <a:pt x="4206240" y="102362"/>
                    <a:pt x="4206240" y="228600"/>
                  </a:cubicBezTo>
                  <a:lnTo>
                    <a:pt x="4206240" y="9163050"/>
                  </a:lnTo>
                  <a:cubicBezTo>
                    <a:pt x="4206240" y="9289288"/>
                    <a:pt x="4103878" y="9391650"/>
                    <a:pt x="3977640" y="9391650"/>
                  </a:cubicBezTo>
                  <a:lnTo>
                    <a:pt x="228600" y="9391650"/>
                  </a:lnTo>
                  <a:cubicBezTo>
                    <a:pt x="102362" y="9391650"/>
                    <a:pt x="0" y="9289288"/>
                    <a:pt x="0" y="9163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240711" y="2443162"/>
            <a:ext cx="3154632" cy="7043738"/>
            <a:chOff x="0" y="0"/>
            <a:chExt cx="4206176" cy="93916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06240" cy="9391650"/>
            </a:xfrm>
            <a:custGeom>
              <a:avLst/>
              <a:gdLst/>
              <a:ahLst/>
              <a:cxnLst/>
              <a:rect r="r" b="b" t="t" l="l"/>
              <a:pathLst>
                <a:path h="9391650" w="420624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77640" y="0"/>
                  </a:lnTo>
                  <a:cubicBezTo>
                    <a:pt x="4103878" y="0"/>
                    <a:pt x="4206240" y="102362"/>
                    <a:pt x="4206240" y="228600"/>
                  </a:cubicBezTo>
                  <a:lnTo>
                    <a:pt x="4206240" y="9163050"/>
                  </a:lnTo>
                  <a:cubicBezTo>
                    <a:pt x="4206240" y="9289288"/>
                    <a:pt x="4103878" y="9391650"/>
                    <a:pt x="3977640" y="9391650"/>
                  </a:cubicBezTo>
                  <a:lnTo>
                    <a:pt x="228600" y="9391650"/>
                  </a:lnTo>
                  <a:cubicBezTo>
                    <a:pt x="102362" y="9391650"/>
                    <a:pt x="0" y="9289288"/>
                    <a:pt x="0" y="9163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619" y="2443162"/>
            <a:ext cx="3154632" cy="7043738"/>
            <a:chOff x="0" y="0"/>
            <a:chExt cx="4206176" cy="93916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06240" cy="9391650"/>
            </a:xfrm>
            <a:custGeom>
              <a:avLst/>
              <a:gdLst/>
              <a:ahLst/>
              <a:cxnLst/>
              <a:rect r="r" b="b" t="t" l="l"/>
              <a:pathLst>
                <a:path h="9391650" w="420624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977640" y="0"/>
                  </a:lnTo>
                  <a:cubicBezTo>
                    <a:pt x="4103878" y="0"/>
                    <a:pt x="4206240" y="102362"/>
                    <a:pt x="4206240" y="228600"/>
                  </a:cubicBezTo>
                  <a:lnTo>
                    <a:pt x="4206240" y="9163050"/>
                  </a:lnTo>
                  <a:cubicBezTo>
                    <a:pt x="4206240" y="9289288"/>
                    <a:pt x="4103878" y="9391650"/>
                    <a:pt x="3977640" y="9391650"/>
                  </a:cubicBezTo>
                  <a:lnTo>
                    <a:pt x="228600" y="9391650"/>
                  </a:lnTo>
                  <a:cubicBezTo>
                    <a:pt x="102362" y="9391650"/>
                    <a:pt x="0" y="9289288"/>
                    <a:pt x="0" y="9163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18968" y="2443162"/>
            <a:ext cx="3154632" cy="57150"/>
            <a:chOff x="0" y="0"/>
            <a:chExt cx="4206176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06240" cy="76200"/>
            </a:xfrm>
            <a:custGeom>
              <a:avLst/>
              <a:gdLst/>
              <a:ahLst/>
              <a:cxnLst/>
              <a:rect r="r" b="b" t="t" l="l"/>
              <a:pathLst>
                <a:path h="76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92876" y="2443162"/>
            <a:ext cx="3154632" cy="57150"/>
            <a:chOff x="0" y="0"/>
            <a:chExt cx="4206176" cy="76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6240" cy="76200"/>
            </a:xfrm>
            <a:custGeom>
              <a:avLst/>
              <a:gdLst/>
              <a:ahLst/>
              <a:cxnLst/>
              <a:rect r="r" b="b" t="t" l="l"/>
              <a:pathLst>
                <a:path h="76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566793" y="2443162"/>
            <a:ext cx="3154632" cy="57150"/>
            <a:chOff x="0" y="0"/>
            <a:chExt cx="4206176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6240" cy="76200"/>
            </a:xfrm>
            <a:custGeom>
              <a:avLst/>
              <a:gdLst/>
              <a:ahLst/>
              <a:cxnLst/>
              <a:rect r="r" b="b" t="t" l="l"/>
              <a:pathLst>
                <a:path h="76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240711" y="2443162"/>
            <a:ext cx="3154632" cy="57150"/>
            <a:chOff x="0" y="0"/>
            <a:chExt cx="4206176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76200"/>
            </a:xfrm>
            <a:custGeom>
              <a:avLst/>
              <a:gdLst/>
              <a:ahLst/>
              <a:cxnLst/>
              <a:rect r="r" b="b" t="t" l="l"/>
              <a:pathLst>
                <a:path h="76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619" y="2443162"/>
            <a:ext cx="3154632" cy="57150"/>
            <a:chOff x="0" y="0"/>
            <a:chExt cx="4206176" cy="76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206240" cy="76200"/>
            </a:xfrm>
            <a:custGeom>
              <a:avLst/>
              <a:gdLst/>
              <a:ahLst/>
              <a:cxnLst/>
              <a:rect r="r" b="b" t="t" l="l"/>
              <a:pathLst>
                <a:path h="76200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C221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خطوات التنفيذ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57200" y="1054883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مراحل المشروع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18993" y="2767012"/>
            <a:ext cx="344323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المرحلة </a:t>
            </a:r>
            <a:r>
              <a:rPr lang="en-US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16967" y="3105150"/>
            <a:ext cx="30423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b="true" sz="2025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البحث عن أوراق سابقة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18993" y="3690938"/>
            <a:ext cx="2897457" cy="186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</a:p>
          <a:p>
            <a:pPr algn="r" rtl="true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يُعد </a:t>
            </a: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هذا الموضوع شائعًا جدًا في جميع أنحاء العالم، ولذلك توجد العديد من الأبحاث والدراسات التي تناولته.</a:t>
            </a:r>
          </a:p>
          <a:p>
            <a:pPr algn="r" rtl="true">
              <a:lnSpc>
                <a:spcPts val="243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1092901" y="2767012"/>
            <a:ext cx="344323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المرحلة </a:t>
            </a:r>
            <a:r>
              <a:rPr lang="en-US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92876" y="3081293"/>
            <a:ext cx="3042333" cy="64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b="true" sz="2025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البحث عن البيانات اللازمة لتدريب النموذج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37751" y="4148137"/>
            <a:ext cx="2897457" cy="95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rtl="true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هذه البيانات كانت على هيأة محادثة بين اخصائي حقيقي و المريض.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66818" y="2767012"/>
            <a:ext cx="344323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المرحلة </a:t>
            </a:r>
            <a:r>
              <a:rPr lang="en-US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22834" y="3105150"/>
            <a:ext cx="30423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b="true" sz="2025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النموذج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66818" y="3690938"/>
            <a:ext cx="2897457" cy="95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نموذج الذكاء الإصطناعي الذي سيترب على البيانات التي سبق ذكرها في الخطوة السابقة.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40736" y="2767012"/>
            <a:ext cx="344323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المرحلة </a:t>
            </a:r>
            <a:r>
              <a:rPr lang="en-US" sz="157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340719" y="3105150"/>
            <a:ext cx="30423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b="true" sz="2025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العميل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40736" y="3690937"/>
            <a:ext cx="2897457" cy="501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يقوم العميل بأربع مهام:</a:t>
            </a:r>
          </a:p>
          <a:p>
            <a:pPr algn="r" rtl="true">
              <a:lnSpc>
                <a:spcPts val="2430"/>
              </a:lnSpc>
            </a:pPr>
          </a:p>
          <a:p>
            <a:pPr algn="r" rtl="true" marL="307663" indent="-153831" lvl="1">
              <a:lnSpc>
                <a:spcPts val="1710"/>
              </a:lnSpc>
              <a:buFont typeface="Arial"/>
              <a:buChar char="•"/>
            </a:pPr>
            <a:r>
              <a:rPr lang="ar-EG" sz="14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حارس الأمان الإجباري (</a:t>
            </a:r>
            <a:r>
              <a:rPr lang="en-US" sz="14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Mandatory Safety Guard</a:t>
            </a:r>
            <a:r>
              <a:rPr lang="ar-EG" sz="14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) — يعمل دائمًا قبل التنفيذ العادي للأداة.</a:t>
            </a:r>
          </a:p>
          <a:p>
            <a:pPr algn="r" rtl="true" marL="307663" indent="-153831" lvl="1">
              <a:lnSpc>
                <a:spcPts val="1710"/>
              </a:lnSpc>
              <a:buFont typeface="Arial"/>
              <a:buChar char="•"/>
            </a:pPr>
            <a:r>
              <a:rPr lang="ar-EG" sz="14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 </a:t>
            </a:r>
          </a:p>
          <a:p>
            <a:pPr algn="r" rtl="true" marL="329253" indent="-164627" lvl="1">
              <a:lnSpc>
                <a:spcPts val="1830"/>
              </a:lnSpc>
              <a:buFont typeface="Arial"/>
              <a:buChar char="•"/>
            </a:pP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أداة التمارين البصرية (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Visual Exercise Tool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) — تُنشئ وسيلة إيضاح بصرية لتمرين رفاهية/صحة نفسية معتمد. </a:t>
            </a:r>
          </a:p>
          <a:p>
            <a:pPr algn="r" rtl="true" marL="329253" indent="-164627" lvl="1">
              <a:lnSpc>
                <a:spcPts val="1830"/>
              </a:lnSpc>
              <a:buFont typeface="Arial"/>
              <a:buChar char="•"/>
            </a:pPr>
          </a:p>
          <a:p>
            <a:pPr algn="r" rtl="true" marL="329253" indent="-164627" lvl="1">
              <a:lnSpc>
                <a:spcPts val="1830"/>
              </a:lnSpc>
              <a:buFont typeface="Arial"/>
              <a:buChar char="•"/>
            </a:pP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أداة البحث عن الدعم المهني (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Support Search Tool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) — تبحث في المصادر العامة عن خيارات الدعم المناسبة. </a:t>
            </a:r>
          </a:p>
          <a:p>
            <a:pPr algn="r" rtl="true" marL="329253" indent="-164627" lvl="1">
              <a:lnSpc>
                <a:spcPts val="1830"/>
              </a:lnSpc>
              <a:buFont typeface="Arial"/>
              <a:buChar char="•"/>
            </a:pPr>
          </a:p>
          <a:p>
            <a:pPr algn="r" rtl="true" marL="329253" indent="-164627" lvl="1">
              <a:lnSpc>
                <a:spcPts val="1830"/>
              </a:lnSpc>
              <a:buFont typeface="Arial"/>
              <a:buChar char="•"/>
            </a:pP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محول توجيه النموذج (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Model Router Adapter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) — يتيح لأي نموذج الاختيار بين 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none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 و 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visual_exercise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 و 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provider_search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 باستخدام عقد </a:t>
            </a:r>
            <a:r>
              <a:rPr lang="en-US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JSON</a:t>
            </a:r>
            <a:r>
              <a:rPr lang="ar-EG" sz="15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 مشترك واحد.</a:t>
            </a:r>
          </a:p>
          <a:p>
            <a:pPr algn="r" rtl="true">
              <a:lnSpc>
                <a:spcPts val="15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114644" y="2767012"/>
            <a:ext cx="3443230" cy="261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المرحلة </a:t>
            </a:r>
            <a:r>
              <a:rPr lang="en-US" sz="157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7351" y="3105150"/>
            <a:ext cx="3042333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b="true" sz="2025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واجهة المشروع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4644" y="3690938"/>
            <a:ext cx="2897457" cy="64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تجهيز الواجهة التي سيتعامل معها المستخدم.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467" y="13763"/>
            <a:ext cx="18263533" cy="10273237"/>
          </a:xfrm>
          <a:custGeom>
            <a:avLst/>
            <a:gdLst/>
            <a:ahLst/>
            <a:cxnLst/>
            <a:rect r="r" b="b" t="t" l="l"/>
            <a:pathLst>
              <a:path h="10273237" w="18263533">
                <a:moveTo>
                  <a:pt x="0" y="0"/>
                </a:moveTo>
                <a:lnTo>
                  <a:pt x="18263533" y="0"/>
                </a:lnTo>
                <a:lnTo>
                  <a:pt x="18263533" y="10273237"/>
                </a:lnTo>
                <a:lnTo>
                  <a:pt x="0" y="102732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3" r="-2873" b="-75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3614738"/>
            <a:ext cx="8790603" cy="1414462"/>
            <a:chOff x="0" y="0"/>
            <a:chExt cx="11720805" cy="1885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20830" cy="1885950"/>
            </a:xfrm>
            <a:custGeom>
              <a:avLst/>
              <a:gdLst/>
              <a:ahLst/>
              <a:cxnLst/>
              <a:rect r="r" b="b" t="t" l="l"/>
              <a:pathLst>
                <a:path h="1885950" w="1172083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92230" y="0"/>
                  </a:lnTo>
                  <a:cubicBezTo>
                    <a:pt x="11618468" y="0"/>
                    <a:pt x="11720830" y="102362"/>
                    <a:pt x="11720830" y="228600"/>
                  </a:cubicBezTo>
                  <a:lnTo>
                    <a:pt x="11720830" y="1657350"/>
                  </a:lnTo>
                  <a:cubicBezTo>
                    <a:pt x="11720830" y="1783588"/>
                    <a:pt x="11618468" y="1885950"/>
                    <a:pt x="11492230" y="1885950"/>
                  </a:cubicBezTo>
                  <a:lnTo>
                    <a:pt x="228600" y="1885950"/>
                  </a:lnTo>
                  <a:cubicBezTo>
                    <a:pt x="102362" y="1885950"/>
                    <a:pt x="0" y="1783588"/>
                    <a:pt x="0" y="16573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5257800"/>
            <a:ext cx="8790603" cy="1414462"/>
            <a:chOff x="0" y="0"/>
            <a:chExt cx="11720805" cy="1885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720830" cy="1885950"/>
            </a:xfrm>
            <a:custGeom>
              <a:avLst/>
              <a:gdLst/>
              <a:ahLst/>
              <a:cxnLst/>
              <a:rect r="r" b="b" t="t" l="l"/>
              <a:pathLst>
                <a:path h="1885950" w="1172083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92230" y="0"/>
                  </a:lnTo>
                  <a:cubicBezTo>
                    <a:pt x="11618468" y="0"/>
                    <a:pt x="11720830" y="102362"/>
                    <a:pt x="11720830" y="228600"/>
                  </a:cubicBezTo>
                  <a:lnTo>
                    <a:pt x="11720830" y="1657350"/>
                  </a:lnTo>
                  <a:cubicBezTo>
                    <a:pt x="11720830" y="1783588"/>
                    <a:pt x="11618468" y="1885950"/>
                    <a:pt x="11492230" y="1885950"/>
                  </a:cubicBezTo>
                  <a:lnTo>
                    <a:pt x="228600" y="1885950"/>
                  </a:lnTo>
                  <a:cubicBezTo>
                    <a:pt x="102362" y="1885950"/>
                    <a:pt x="0" y="1783588"/>
                    <a:pt x="0" y="16573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6900862"/>
            <a:ext cx="8790603" cy="1414462"/>
            <a:chOff x="0" y="0"/>
            <a:chExt cx="11720805" cy="188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0830" cy="1885950"/>
            </a:xfrm>
            <a:custGeom>
              <a:avLst/>
              <a:gdLst/>
              <a:ahLst/>
              <a:cxnLst/>
              <a:rect r="r" b="b" t="t" l="l"/>
              <a:pathLst>
                <a:path h="1885950" w="1172083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1492230" y="0"/>
                  </a:lnTo>
                  <a:cubicBezTo>
                    <a:pt x="11618468" y="0"/>
                    <a:pt x="11720830" y="102362"/>
                    <a:pt x="11720830" y="228600"/>
                  </a:cubicBezTo>
                  <a:lnTo>
                    <a:pt x="11720830" y="1657350"/>
                  </a:lnTo>
                  <a:cubicBezTo>
                    <a:pt x="11720830" y="1783588"/>
                    <a:pt x="11618468" y="1885950"/>
                    <a:pt x="11492230" y="1885950"/>
                  </a:cubicBezTo>
                  <a:lnTo>
                    <a:pt x="228600" y="1885950"/>
                  </a:lnTo>
                  <a:cubicBezTo>
                    <a:pt x="102362" y="1885950"/>
                    <a:pt x="0" y="1783588"/>
                    <a:pt x="0" y="16573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647853" y="3614738"/>
            <a:ext cx="57150" cy="1414462"/>
            <a:chOff x="0" y="0"/>
            <a:chExt cx="76200" cy="1885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85950"/>
                  </a:lnTo>
                  <a:lnTo>
                    <a:pt x="0" y="188595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47853" y="5257800"/>
            <a:ext cx="57150" cy="1414462"/>
            <a:chOff x="0" y="0"/>
            <a:chExt cx="76200" cy="1885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85950"/>
                  </a:lnTo>
                  <a:lnTo>
                    <a:pt x="0" y="188595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47853" y="6900862"/>
            <a:ext cx="57150" cy="1414462"/>
            <a:chOff x="0" y="0"/>
            <a:chExt cx="76200" cy="1885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1885950"/>
            </a:xfrm>
            <a:custGeom>
              <a:avLst/>
              <a:gdLst/>
              <a:ahLst/>
              <a:cxnLst/>
              <a:rect r="r" b="b" t="t" l="l"/>
              <a:pathLst>
                <a:path h="1885950" w="76200">
                  <a:moveTo>
                    <a:pt x="0" y="0"/>
                  </a:moveTo>
                  <a:lnTo>
                    <a:pt x="76200" y="0"/>
                  </a:lnTo>
                  <a:lnTo>
                    <a:pt x="76200" y="1885950"/>
                  </a:lnTo>
                  <a:lnTo>
                    <a:pt x="0" y="1885950"/>
                  </a:lnTo>
                  <a:close/>
                </a:path>
              </a:pathLst>
            </a:custGeom>
            <a:solidFill>
              <a:srgbClr val="4A352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الرعاية المتخصصة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127865" y="1662090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شبكة المختصين النفسيين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1129" y="3876664"/>
            <a:ext cx="8720071" cy="30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</a:rPr>
              <a:t>1. </a:t>
            </a:r>
            <a:r>
              <a:rPr lang="ar-EG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اختيار المختص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69379" y="4400528"/>
            <a:ext cx="3331821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استعراض قائمة الأخصائيين المعتمدين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81129" y="5531638"/>
            <a:ext cx="8720071" cy="30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</a:rPr>
              <a:t>2. </a:t>
            </a:r>
            <a:r>
              <a:rPr lang="ar-EG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حجز الموعد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4670" y="6055535"/>
            <a:ext cx="2936530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تحديد الوقت المناسب بكل مرونة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129" y="7177088"/>
            <a:ext cx="8720071" cy="30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</a:rPr>
              <a:t>3. </a:t>
            </a:r>
            <a:r>
              <a:rPr lang="ar-EG" sz="2025" b="true">
                <a:solidFill>
                  <a:srgbClr val="2C221E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الدفع والاستشارة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88028" y="7700985"/>
            <a:ext cx="3213172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دفع سلس وإجراء جلسة آمنة ومغلقة</a:t>
            </a:r>
            <a:r>
              <a:rPr lang="en-US" sz="2025">
                <a:solidFill>
                  <a:srgbClr val="665952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1659091" y="1960404"/>
            <a:ext cx="8615349" cy="8615349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06" t="0" r="-24906" b="0"/>
              </a:stretch>
            </a:blipFill>
            <a:ln w="161925" cap="sq">
              <a:solidFill>
                <a:srgbClr val="8D6C52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0" y="4179094"/>
            <a:ext cx="7772400" cy="3571875"/>
            <a:chOff x="0" y="0"/>
            <a:chExt cx="10363200" cy="476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63200" cy="4762500"/>
            </a:xfrm>
            <a:custGeom>
              <a:avLst/>
              <a:gdLst/>
              <a:ahLst/>
              <a:cxnLst/>
              <a:rect r="r" b="b" t="t" l="l"/>
              <a:pathLst>
                <a:path h="4762500" w="103632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lnTo>
                    <a:pt x="9982200" y="0"/>
                  </a:lnTo>
                  <a:cubicBezTo>
                    <a:pt x="10192639" y="0"/>
                    <a:pt x="10363200" y="170561"/>
                    <a:pt x="10363200" y="381000"/>
                  </a:cubicBezTo>
                  <a:lnTo>
                    <a:pt x="10363200" y="4381500"/>
                  </a:lnTo>
                  <a:cubicBezTo>
                    <a:pt x="10363200" y="4591939"/>
                    <a:pt x="10192639" y="4762500"/>
                    <a:pt x="9982200" y="4762500"/>
                  </a:cubicBezTo>
                  <a:lnTo>
                    <a:pt x="381000" y="4762500"/>
                  </a:lnTo>
                  <a:cubicBezTo>
                    <a:pt x="170561" y="4762500"/>
                    <a:pt x="0" y="4591939"/>
                    <a:pt x="0" y="4381500"/>
                  </a:cubicBez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553276" y="5650706"/>
            <a:ext cx="2590724" cy="1385888"/>
            <a:chOff x="0" y="0"/>
            <a:chExt cx="3454298" cy="18478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54273" cy="1847850"/>
            </a:xfrm>
            <a:custGeom>
              <a:avLst/>
              <a:gdLst/>
              <a:ahLst/>
              <a:cxnLst/>
              <a:rect r="r" b="b" t="t" l="l"/>
              <a:pathLst>
                <a:path h="1847850" w="345427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225673" y="0"/>
                  </a:lnTo>
                  <a:cubicBezTo>
                    <a:pt x="3351911" y="0"/>
                    <a:pt x="3454273" y="102362"/>
                    <a:pt x="3454273" y="228600"/>
                  </a:cubicBezTo>
                  <a:lnTo>
                    <a:pt x="3454273" y="1619250"/>
                  </a:lnTo>
                  <a:cubicBezTo>
                    <a:pt x="3454273" y="1745488"/>
                    <a:pt x="3351911" y="1847850"/>
                    <a:pt x="3225673" y="1847850"/>
                  </a:cubicBezTo>
                  <a:lnTo>
                    <a:pt x="228600" y="1847850"/>
                  </a:lnTo>
                  <a:cubicBezTo>
                    <a:pt x="102362" y="1847850"/>
                    <a:pt x="0" y="1745488"/>
                    <a:pt x="0" y="1619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33952" y="5650706"/>
            <a:ext cx="2590724" cy="1385888"/>
            <a:chOff x="0" y="0"/>
            <a:chExt cx="3454298" cy="1847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54273" cy="1847850"/>
            </a:xfrm>
            <a:custGeom>
              <a:avLst/>
              <a:gdLst/>
              <a:ahLst/>
              <a:cxnLst/>
              <a:rect r="r" b="b" t="t" l="l"/>
              <a:pathLst>
                <a:path h="1847850" w="345427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225673" y="0"/>
                  </a:lnTo>
                  <a:cubicBezTo>
                    <a:pt x="3351911" y="0"/>
                    <a:pt x="3454273" y="102362"/>
                    <a:pt x="3454273" y="228600"/>
                  </a:cubicBezTo>
                  <a:lnTo>
                    <a:pt x="3454273" y="1619250"/>
                  </a:lnTo>
                  <a:cubicBezTo>
                    <a:pt x="3454273" y="1745488"/>
                    <a:pt x="3351911" y="1847850"/>
                    <a:pt x="3225673" y="1847850"/>
                  </a:cubicBezTo>
                  <a:lnTo>
                    <a:pt x="228600" y="1847850"/>
                  </a:lnTo>
                  <a:cubicBezTo>
                    <a:pt x="102362" y="1847850"/>
                    <a:pt x="0" y="1745488"/>
                    <a:pt x="0" y="1619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619" y="5650706"/>
            <a:ext cx="2590724" cy="1385888"/>
            <a:chOff x="0" y="0"/>
            <a:chExt cx="3454298" cy="1847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54273" cy="1847850"/>
            </a:xfrm>
            <a:custGeom>
              <a:avLst/>
              <a:gdLst/>
              <a:ahLst/>
              <a:cxnLst/>
              <a:rect r="r" b="b" t="t" l="l"/>
              <a:pathLst>
                <a:path h="1847850" w="3454273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225673" y="0"/>
                  </a:lnTo>
                  <a:cubicBezTo>
                    <a:pt x="3351911" y="0"/>
                    <a:pt x="3454273" y="102362"/>
                    <a:pt x="3454273" y="228600"/>
                  </a:cubicBezTo>
                  <a:lnTo>
                    <a:pt x="3454273" y="1619250"/>
                  </a:lnTo>
                  <a:cubicBezTo>
                    <a:pt x="3454273" y="1745488"/>
                    <a:pt x="3351911" y="1847850"/>
                    <a:pt x="3225673" y="1847850"/>
                  </a:cubicBezTo>
                  <a:lnTo>
                    <a:pt x="228600" y="1847850"/>
                  </a:lnTo>
                  <a:cubicBezTo>
                    <a:pt x="102362" y="1847850"/>
                    <a:pt x="0" y="1745488"/>
                    <a:pt x="0" y="16192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41368" y="5879306"/>
            <a:ext cx="214312" cy="342900"/>
            <a:chOff x="0" y="0"/>
            <a:chExt cx="285750" cy="45720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285750" cy="457200"/>
            </a:xfrm>
            <a:custGeom>
              <a:avLst/>
              <a:gdLst/>
              <a:ahLst/>
              <a:cxnLst/>
              <a:rect r="r" b="b" t="t" l="l"/>
              <a:pathLst>
                <a:path h="457200" w="285750">
                  <a:moveTo>
                    <a:pt x="0" y="0"/>
                  </a:moveTo>
                  <a:lnTo>
                    <a:pt x="285750" y="0"/>
                  </a:lnTo>
                  <a:lnTo>
                    <a:pt x="2857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00" t="0" r="-1199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814888" y="5879306"/>
            <a:ext cx="428625" cy="342900"/>
            <a:chOff x="0" y="0"/>
            <a:chExt cx="571500" cy="4572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038426" y="5879306"/>
            <a:ext cx="342900" cy="342900"/>
            <a:chOff x="0" y="0"/>
            <a:chExt cx="457200" cy="457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الاستدامة والوسائل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75" y="1054883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نموذج الدفع والدعم المحلي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86850" y="4712494"/>
            <a:ext cx="8801100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ar-EG" sz="1800" b="true">
                <a:solidFill>
                  <a:srgbClr val="D4B896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تسعير مبدئي ميسر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6838" y="5250656"/>
            <a:ext cx="9001125" cy="1500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6300" b="true">
                <a:solidFill>
                  <a:srgbClr val="F7F3ED"/>
                </a:solidFill>
                <a:latin typeface="Cairo Bold"/>
                <a:ea typeface="Cairo Bold"/>
                <a:cs typeface="Cairo Bold"/>
                <a:sym typeface="Cairo Bold"/>
              </a:rPr>
              <a:t>20 </a:t>
            </a:r>
            <a:r>
              <a:rPr lang="ar-EG" sz="6300" b="true">
                <a:solidFill>
                  <a:srgbClr val="F7F3ED"/>
                </a:solidFill>
                <a:latin typeface="Cairo Bold"/>
                <a:ea typeface="Cairo Bold"/>
                <a:cs typeface="Cairo Bold"/>
                <a:sym typeface="Cairo Bold"/>
                <a:rtl val="true"/>
              </a:rPr>
              <a:t>د.ل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01150" y="6827044"/>
            <a:ext cx="8572500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>
                <a:solidFill>
                  <a:srgbClr val="D4B896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لكل جلسة استشارية مع إمكانية التنسيق مع الجهات المعنية</a:t>
            </a:r>
            <a:r>
              <a:rPr lang="en-US" sz="2025">
                <a:solidFill>
                  <a:srgbClr val="D4B896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4836319"/>
            <a:ext cx="8791099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وسائل الدفع المحلية المتاحة</a:t>
            </a:r>
            <a:r>
              <a:rPr lang="en-US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98529" y="6298406"/>
            <a:ext cx="250021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رصيد ليبيانا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779206" y="6298406"/>
            <a:ext cx="250021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رصيد المدار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9882" y="6298406"/>
            <a:ext cx="2500217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تحويل مصرفي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58300" y="3064669"/>
            <a:ext cx="8115300" cy="857250"/>
            <a:chOff x="0" y="0"/>
            <a:chExt cx="10820400" cy="114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3064669"/>
            <a:ext cx="8115300" cy="857250"/>
            <a:chOff x="0" y="0"/>
            <a:chExt cx="10820400" cy="114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58300" y="5507831"/>
            <a:ext cx="8115300" cy="857250"/>
            <a:chOff x="0" y="0"/>
            <a:chExt cx="10820400" cy="1143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5507831"/>
            <a:ext cx="8115300" cy="857250"/>
            <a:chOff x="0" y="0"/>
            <a:chExt cx="10820400" cy="114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58300" y="7950994"/>
            <a:ext cx="8115300" cy="857250"/>
            <a:chOff x="0" y="0"/>
            <a:chExt cx="10820400" cy="114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950994"/>
            <a:ext cx="8115300" cy="857250"/>
            <a:chOff x="0" y="0"/>
            <a:chExt cx="10820400" cy="1143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8204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08204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0591800" y="0"/>
                  </a:lnTo>
                  <a:cubicBezTo>
                    <a:pt x="10718038" y="0"/>
                    <a:pt x="10820400" y="102362"/>
                    <a:pt x="10820400" y="228600"/>
                  </a:cubicBezTo>
                  <a:lnTo>
                    <a:pt x="10820400" y="914400"/>
                  </a:lnTo>
                  <a:cubicBezTo>
                    <a:pt x="10820400" y="1040638"/>
                    <a:pt x="10718038" y="1143000"/>
                    <a:pt x="10591800" y="1143000"/>
                  </a:cubicBezTo>
                  <a:lnTo>
                    <a:pt x="228600" y="1143000"/>
                  </a:lnTo>
                  <a:cubicBezTo>
                    <a:pt x="102362" y="1143000"/>
                    <a:pt x="0" y="1040638"/>
                    <a:pt x="0" y="9144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687800" y="3321844"/>
            <a:ext cx="342900" cy="342900"/>
            <a:chOff x="0" y="0"/>
            <a:chExt cx="457200" cy="4572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386762" y="3321844"/>
            <a:ext cx="300038" cy="342900"/>
            <a:chOff x="0" y="0"/>
            <a:chExt cx="400050" cy="4572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02075" y="5765006"/>
            <a:ext cx="428625" cy="342900"/>
            <a:chOff x="0" y="0"/>
            <a:chExt cx="571500" cy="457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83" r="0" b="-208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58175" y="5765006"/>
            <a:ext cx="428625" cy="342900"/>
            <a:chOff x="0" y="0"/>
            <a:chExt cx="57150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571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715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83" r="0" b="-208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687800" y="8208169"/>
            <a:ext cx="342900" cy="342900"/>
            <a:chOff x="0" y="0"/>
            <a:chExt cx="45720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083" r="0" b="-208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343900" y="8208169"/>
            <a:ext cx="342900" cy="342900"/>
            <a:chOff x="0" y="0"/>
            <a:chExt cx="45720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2083" r="0" b="-208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الموثوقية والمسؤولية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0" y="1054883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الأمان والأخلاقيات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0" y="3298031"/>
            <a:ext cx="450056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موافقة صريحة قبل جمع البيانات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57700" y="3298031"/>
            <a:ext cx="462557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تقليل جمع البيانات للحد الضروري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15800" y="5741194"/>
            <a:ext cx="532209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تدخل بشري مباشر بالحالات الحساسة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72025" y="5741194"/>
            <a:ext cx="4071938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حماية البيانات وتقييد الوصول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01662" y="8184356"/>
            <a:ext cx="394692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تقييم النموذج ومراقبة التحيز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843462" y="8184356"/>
            <a:ext cx="408979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منع التشخيص أو العلاج الآلي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4550569"/>
            <a:ext cx="9601200" cy="714375"/>
            <a:chOff x="0" y="0"/>
            <a:chExt cx="12801600" cy="95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016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801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573000" y="0"/>
                  </a:lnTo>
                  <a:cubicBezTo>
                    <a:pt x="12699238" y="0"/>
                    <a:pt x="12801600" y="102362"/>
                    <a:pt x="12801600" y="228600"/>
                  </a:cubicBezTo>
                  <a:lnTo>
                    <a:pt x="12801600" y="723900"/>
                  </a:lnTo>
                  <a:cubicBezTo>
                    <a:pt x="12801600" y="850138"/>
                    <a:pt x="12699238" y="952500"/>
                    <a:pt x="12573000" y="952500"/>
                  </a:cubicBezTo>
                  <a:lnTo>
                    <a:pt x="228600" y="952500"/>
                  </a:lnTo>
                  <a:cubicBezTo>
                    <a:pt x="102362" y="952500"/>
                    <a:pt x="0" y="850138"/>
                    <a:pt x="0" y="723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72400" y="5436394"/>
            <a:ext cx="9601200" cy="714375"/>
            <a:chOff x="0" y="0"/>
            <a:chExt cx="12801600" cy="9525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016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801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573000" y="0"/>
                  </a:lnTo>
                  <a:cubicBezTo>
                    <a:pt x="12699238" y="0"/>
                    <a:pt x="12801600" y="102362"/>
                    <a:pt x="12801600" y="228600"/>
                  </a:cubicBezTo>
                  <a:lnTo>
                    <a:pt x="12801600" y="723900"/>
                  </a:lnTo>
                  <a:cubicBezTo>
                    <a:pt x="12801600" y="850138"/>
                    <a:pt x="12699238" y="952500"/>
                    <a:pt x="12573000" y="952500"/>
                  </a:cubicBezTo>
                  <a:lnTo>
                    <a:pt x="228600" y="952500"/>
                  </a:lnTo>
                  <a:cubicBezTo>
                    <a:pt x="102362" y="952500"/>
                    <a:pt x="0" y="850138"/>
                    <a:pt x="0" y="723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772400" y="6322219"/>
            <a:ext cx="9601200" cy="714375"/>
            <a:chOff x="0" y="0"/>
            <a:chExt cx="12801600" cy="952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016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801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573000" y="0"/>
                  </a:lnTo>
                  <a:cubicBezTo>
                    <a:pt x="12699238" y="0"/>
                    <a:pt x="12801600" y="102362"/>
                    <a:pt x="12801600" y="228600"/>
                  </a:cubicBezTo>
                  <a:lnTo>
                    <a:pt x="12801600" y="723900"/>
                  </a:lnTo>
                  <a:cubicBezTo>
                    <a:pt x="12801600" y="850138"/>
                    <a:pt x="12699238" y="952500"/>
                    <a:pt x="12573000" y="952500"/>
                  </a:cubicBezTo>
                  <a:lnTo>
                    <a:pt x="228600" y="952500"/>
                  </a:lnTo>
                  <a:cubicBezTo>
                    <a:pt x="102362" y="952500"/>
                    <a:pt x="0" y="850138"/>
                    <a:pt x="0" y="723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772400" y="7208044"/>
            <a:ext cx="9601200" cy="714375"/>
            <a:chOff x="0" y="0"/>
            <a:chExt cx="12801600" cy="952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00" cy="952500"/>
            </a:xfrm>
            <a:custGeom>
              <a:avLst/>
              <a:gdLst/>
              <a:ahLst/>
              <a:cxnLst/>
              <a:rect r="r" b="b" t="t" l="l"/>
              <a:pathLst>
                <a:path h="952500" w="128016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12573000" y="0"/>
                  </a:lnTo>
                  <a:cubicBezTo>
                    <a:pt x="12699238" y="0"/>
                    <a:pt x="12801600" y="102362"/>
                    <a:pt x="12801600" y="228600"/>
                  </a:cubicBezTo>
                  <a:lnTo>
                    <a:pt x="12801600" y="723900"/>
                  </a:lnTo>
                  <a:cubicBezTo>
                    <a:pt x="12801600" y="850138"/>
                    <a:pt x="12699238" y="952500"/>
                    <a:pt x="12573000" y="952500"/>
                  </a:cubicBezTo>
                  <a:lnTo>
                    <a:pt x="228600" y="952500"/>
                  </a:lnTo>
                  <a:cubicBezTo>
                    <a:pt x="102362" y="952500"/>
                    <a:pt x="0" y="850138"/>
                    <a:pt x="0" y="7239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759238" y="4772025"/>
            <a:ext cx="328612" cy="271462"/>
            <a:chOff x="0" y="0"/>
            <a:chExt cx="438150" cy="361950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830675" y="5657850"/>
            <a:ext cx="257175" cy="271462"/>
            <a:chOff x="0" y="0"/>
            <a:chExt cx="342900" cy="36195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342900" cy="361950"/>
            </a:xfrm>
            <a:custGeom>
              <a:avLst/>
              <a:gdLst/>
              <a:ahLst/>
              <a:cxnLst/>
              <a:rect r="r" b="b" t="t" l="l"/>
              <a:pathLst>
                <a:path h="36195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759238" y="6543675"/>
            <a:ext cx="328612" cy="271462"/>
            <a:chOff x="0" y="0"/>
            <a:chExt cx="438150" cy="36195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438150" cy="361950"/>
            </a:xfrm>
            <a:custGeom>
              <a:avLst/>
              <a:gdLst/>
              <a:ahLst/>
              <a:cxnLst/>
              <a:rect r="r" b="b" t="t" l="l"/>
              <a:pathLst>
                <a:path h="361950" w="438150">
                  <a:moveTo>
                    <a:pt x="0" y="0"/>
                  </a:moveTo>
                  <a:lnTo>
                    <a:pt x="438150" y="0"/>
                  </a:lnTo>
                  <a:lnTo>
                    <a:pt x="43815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887825" y="7429500"/>
            <a:ext cx="200025" cy="271462"/>
            <a:chOff x="0" y="0"/>
            <a:chExt cx="266700" cy="3619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66700" cy="361950"/>
            </a:xfrm>
            <a:custGeom>
              <a:avLst/>
              <a:gdLst/>
              <a:ahLst/>
              <a:cxnLst/>
              <a:rect r="r" b="b" t="t" l="l"/>
              <a:pathLst>
                <a:path h="3619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086725" y="4772025"/>
            <a:ext cx="8672512" cy="314325"/>
            <a:chOff x="0" y="0"/>
            <a:chExt cx="11563350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563350" cy="419100"/>
            </a:xfrm>
            <a:custGeom>
              <a:avLst/>
              <a:gdLst/>
              <a:ahLst/>
              <a:cxnLst/>
              <a:rect r="r" b="b" t="t" l="l"/>
              <a:pathLst>
                <a:path h="419100" w="11563350">
                  <a:moveTo>
                    <a:pt x="0" y="0"/>
                  </a:moveTo>
                  <a:lnTo>
                    <a:pt x="11563350" y="0"/>
                  </a:lnTo>
                  <a:lnTo>
                    <a:pt x="1156335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7609" r="0" b="-48760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5633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2C221E"/>
                  </a:solidFill>
                  <a:latin typeface="Tajawal Bold"/>
                  <a:ea typeface="Tajawal Bold"/>
                  <a:cs typeface="Tajawal Bold"/>
                  <a:sym typeface="Tajawal Bold"/>
                  <a:rtl val="true"/>
                </a:rPr>
                <a:t>اللهجة المحلية:</a:t>
              </a:r>
              <a:r>
                <a:rPr lang="ar-EG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  <a:rtl val="true"/>
                </a:rPr>
                <a:t> فهم تعابير ومصطلحات الشارع الليبي</a:t>
              </a:r>
              <a:r>
                <a:rPr lang="en-US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143875" y="5655469"/>
            <a:ext cx="8743950" cy="314325"/>
            <a:chOff x="0" y="0"/>
            <a:chExt cx="11658600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586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658600">
                  <a:moveTo>
                    <a:pt x="0" y="0"/>
                  </a:moveTo>
                  <a:lnTo>
                    <a:pt x="11658600" y="0"/>
                  </a:lnTo>
                  <a:lnTo>
                    <a:pt x="116586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2038" r="0" b="-49203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6586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2C221E"/>
                  </a:solidFill>
                  <a:latin typeface="Tajawal Bold"/>
                  <a:ea typeface="Tajawal Bold"/>
                  <a:cs typeface="Tajawal Bold"/>
                  <a:sym typeface="Tajawal Bold"/>
                  <a:rtl val="true"/>
                </a:rPr>
                <a:t>التعبير العاطفي:</a:t>
              </a:r>
              <a:r>
                <a:rPr lang="ar-EG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  <a:rtl val="true"/>
                </a:rPr>
                <a:t> نمط الإفصاح عن المشاعر اجتماعياً</a:t>
              </a:r>
              <a:r>
                <a:rPr lang="en-US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931496" y="6543675"/>
            <a:ext cx="8672512" cy="314325"/>
            <a:chOff x="0" y="0"/>
            <a:chExt cx="11563350" cy="41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563350" cy="419100"/>
            </a:xfrm>
            <a:custGeom>
              <a:avLst/>
              <a:gdLst/>
              <a:ahLst/>
              <a:cxnLst/>
              <a:rect r="r" b="b" t="t" l="l"/>
              <a:pathLst>
                <a:path h="419100" w="11563350">
                  <a:moveTo>
                    <a:pt x="0" y="0"/>
                  </a:moveTo>
                  <a:lnTo>
                    <a:pt x="11563350" y="0"/>
                  </a:lnTo>
                  <a:lnTo>
                    <a:pt x="1156335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87609" r="0" b="-48760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56335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2C221E"/>
                  </a:solidFill>
                  <a:latin typeface="Tajawal Bold"/>
                  <a:ea typeface="Tajawal Bold"/>
                  <a:cs typeface="Tajawal Bold"/>
                  <a:sym typeface="Tajawal Bold"/>
                  <a:rtl val="true"/>
                </a:rPr>
                <a:t>الظروف الاجتماعية:</a:t>
              </a:r>
              <a:r>
                <a:rPr lang="ar-EG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  <a:rtl val="true"/>
                </a:rPr>
                <a:t> طبيعة البيئة والضغوط اليومية</a:t>
              </a:r>
              <a:r>
                <a:rPr lang="en-US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029575" y="7427119"/>
            <a:ext cx="8801100" cy="314325"/>
            <a:chOff x="0" y="0"/>
            <a:chExt cx="11734800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34800" cy="419100"/>
            </a:xfrm>
            <a:custGeom>
              <a:avLst/>
              <a:gdLst/>
              <a:ahLst/>
              <a:cxnLst/>
              <a:rect r="r" b="b" t="t" l="l"/>
              <a:pathLst>
                <a:path h="419100" w="11734800">
                  <a:moveTo>
                    <a:pt x="0" y="0"/>
                  </a:moveTo>
                  <a:lnTo>
                    <a:pt x="11734800" y="0"/>
                  </a:lnTo>
                  <a:lnTo>
                    <a:pt x="11734800" y="419100"/>
                  </a:lnTo>
                  <a:lnTo>
                    <a:pt x="0" y="4191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1734800" cy="457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30"/>
                </a:lnSpc>
              </a:pPr>
              <a:r>
                <a:rPr lang="ar-EG" sz="2025" b="true">
                  <a:solidFill>
                    <a:srgbClr val="2C221E"/>
                  </a:solidFill>
                  <a:latin typeface="Tajawal Bold"/>
                  <a:ea typeface="Tajawal Bold"/>
                  <a:cs typeface="Tajawal Bold"/>
                  <a:sym typeface="Tajawal Bold"/>
                  <a:rtl val="true"/>
                </a:rPr>
                <a:t>البيئة الرقمية:</a:t>
              </a:r>
              <a:r>
                <a:rPr lang="ar-EG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  <a:rtl val="true"/>
                </a:rPr>
                <a:t> عادات استخدام التكنولوجيا في ليبيا</a:t>
              </a:r>
              <a:r>
                <a:rPr lang="en-US" sz="2025">
                  <a:solidFill>
                    <a:srgbClr val="2C221E"/>
                  </a:solidFill>
                  <a:latin typeface="Tajawal"/>
                  <a:ea typeface="Tajawal"/>
                  <a:cs typeface="Tajawal"/>
                  <a:sym typeface="Tajawal"/>
                </a:rPr>
                <a:t>.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47498" y="3754967"/>
            <a:ext cx="6395753" cy="4391554"/>
          </a:xfrm>
          <a:custGeom>
            <a:avLst/>
            <a:gdLst/>
            <a:ahLst/>
            <a:cxnLst/>
            <a:rect r="r" b="b" t="t" l="l"/>
            <a:pathLst>
              <a:path h="4391554" w="6395753">
                <a:moveTo>
                  <a:pt x="0" y="0"/>
                </a:moveTo>
                <a:lnTo>
                  <a:pt x="6395753" y="0"/>
                </a:lnTo>
                <a:lnTo>
                  <a:pt x="6395753" y="4391554"/>
                </a:lnTo>
                <a:lnTo>
                  <a:pt x="0" y="43915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914400" y="781050"/>
            <a:ext cx="166020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الملائمة الثقافية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7200" y="1021270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إمكانية تطبيق المشروع في ليبيا؟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45692" y="3412045"/>
            <a:ext cx="5627908" cy="34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ar-EG" sz="202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النماذج العامة العالمية لا تستوعب الخصوصيات المحلية التالية</a:t>
            </a:r>
            <a:r>
              <a:rPr lang="en-US" sz="2025" b="true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51169" y="4493419"/>
            <a:ext cx="8029575" cy="2886075"/>
            <a:chOff x="0" y="0"/>
            <a:chExt cx="10706100" cy="384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6100" cy="3848100"/>
            </a:xfrm>
            <a:custGeom>
              <a:avLst/>
              <a:gdLst/>
              <a:ahLst/>
              <a:cxnLst/>
              <a:rect r="r" b="b" t="t" l="l"/>
              <a:pathLst>
                <a:path h="3848100" w="10706100">
                  <a:moveTo>
                    <a:pt x="0" y="306324"/>
                  </a:moveTo>
                  <a:cubicBezTo>
                    <a:pt x="0" y="137160"/>
                    <a:pt x="137160" y="0"/>
                    <a:pt x="306324" y="0"/>
                  </a:cubicBezTo>
                  <a:lnTo>
                    <a:pt x="10399776" y="0"/>
                  </a:lnTo>
                  <a:cubicBezTo>
                    <a:pt x="10568940" y="0"/>
                    <a:pt x="10706100" y="137160"/>
                    <a:pt x="10706100" y="306324"/>
                  </a:cubicBezTo>
                  <a:lnTo>
                    <a:pt x="10706100" y="3541776"/>
                  </a:lnTo>
                  <a:cubicBezTo>
                    <a:pt x="10706100" y="3710940"/>
                    <a:pt x="10568940" y="3848100"/>
                    <a:pt x="10399776" y="3848100"/>
                  </a:cubicBezTo>
                  <a:lnTo>
                    <a:pt x="306324" y="3848100"/>
                  </a:lnTo>
                  <a:cubicBezTo>
                    <a:pt x="137160" y="3848100"/>
                    <a:pt x="0" y="3710940"/>
                    <a:pt x="0" y="3541776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EBE3D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250531"/>
            <a:ext cx="8101012" cy="3371850"/>
            <a:chOff x="0" y="0"/>
            <a:chExt cx="10801350" cy="4495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801350" cy="4495800"/>
            </a:xfrm>
            <a:custGeom>
              <a:avLst/>
              <a:gdLst/>
              <a:ahLst/>
              <a:cxnLst/>
              <a:rect r="r" b="b" t="t" l="l"/>
              <a:pathLst>
                <a:path h="4495800" w="1080135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496550" y="0"/>
                  </a:lnTo>
                  <a:cubicBezTo>
                    <a:pt x="10664825" y="0"/>
                    <a:pt x="10801350" y="136398"/>
                    <a:pt x="10801350" y="304800"/>
                  </a:cubicBezTo>
                  <a:lnTo>
                    <a:pt x="10801350" y="4191000"/>
                  </a:lnTo>
                  <a:cubicBezTo>
                    <a:pt x="10801350" y="4359275"/>
                    <a:pt x="10664952" y="4495800"/>
                    <a:pt x="10496550" y="4495800"/>
                  </a:cubicBezTo>
                  <a:lnTo>
                    <a:pt x="304800" y="4495800"/>
                  </a:lnTo>
                  <a:cubicBezTo>
                    <a:pt x="136525" y="4495800"/>
                    <a:pt x="0" y="4359402"/>
                    <a:pt x="0" y="4191000"/>
                  </a:cubicBezTo>
                  <a:close/>
                </a:path>
              </a:pathLst>
            </a:custGeom>
            <a:solidFill>
              <a:srgbClr val="2C221E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22006" y="4707731"/>
            <a:ext cx="685800" cy="685800"/>
            <a:chOff x="0" y="0"/>
            <a:chExt cx="914400" cy="9144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دعم متخذي القرار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44" y="1054883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لوحة معلومات للجهات المختصة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2650" y="4857750"/>
            <a:ext cx="7695962" cy="585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رؤى مبنية على البيانات المجمعة</a:t>
            </a:r>
            <a:r>
              <a:rPr lang="en-US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688" y="5574506"/>
            <a:ext cx="943242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0"/>
              </a:lnSpc>
            </a:pPr>
            <a:r>
              <a:rPr lang="ar-EG" sz="2475" b="true">
                <a:solidFill>
                  <a:srgbClr val="F7F3ED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تحويل البيانات إلى قرارات وسياسات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3269" y="6298406"/>
            <a:ext cx="8983266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7"/>
              </a:lnSpc>
            </a:pPr>
            <a:r>
              <a:rPr lang="ar-EG" sz="2025">
                <a:solidFill>
                  <a:srgbClr val="D4B896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دعم المؤسسات الوطنية لبناء استراتيجيات رعاية دون كشف هوية المستخدمين</a:t>
            </a:r>
            <a:r>
              <a:rPr lang="en-US" sz="2025">
                <a:solidFill>
                  <a:srgbClr val="D4B896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75997" y="5634038"/>
            <a:ext cx="898326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• </a:t>
            </a:r>
            <a:r>
              <a:rPr lang="ar-EG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  <a:rtl val="true"/>
              </a:rPr>
              <a:t>أنواع الضغوط الأكثر انتشاراً بين الشباب</a:t>
            </a: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75997" y="6119812"/>
            <a:ext cx="898326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• </a:t>
            </a:r>
            <a:r>
              <a:rPr lang="ar-EG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  <a:rtl val="true"/>
              </a:rPr>
              <a:t>الفئات العمرية والمناطق الأكثر احتياجاً</a:t>
            </a: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75997" y="6605588"/>
            <a:ext cx="8983266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30"/>
              </a:lnSpc>
            </a:pP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• </a:t>
            </a:r>
            <a:r>
              <a:rPr lang="ar-EG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  <a:rtl val="true"/>
              </a:rPr>
              <a:t>معدلات استخدام وتقييم خدمات الدعم</a:t>
            </a:r>
            <a:r>
              <a:rPr lang="en-US" sz="2025">
                <a:solidFill>
                  <a:srgbClr val="4A3525"/>
                </a:solidFill>
                <a:latin typeface="Tajawal"/>
                <a:ea typeface="Tajawal"/>
                <a:cs typeface="Tajawal"/>
                <a:sym typeface="Tajawal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30250" y="3353991"/>
            <a:ext cx="3943350" cy="1500188"/>
            <a:chOff x="0" y="0"/>
            <a:chExt cx="5257800" cy="200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58300" y="3353991"/>
            <a:ext cx="3943350" cy="1500188"/>
            <a:chOff x="0" y="0"/>
            <a:chExt cx="5257800" cy="200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86350" y="3353991"/>
            <a:ext cx="3943350" cy="1500188"/>
            <a:chOff x="0" y="0"/>
            <a:chExt cx="5257800" cy="200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353991"/>
            <a:ext cx="3943350" cy="1500188"/>
            <a:chOff x="0" y="0"/>
            <a:chExt cx="5257800" cy="200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30250" y="7018734"/>
            <a:ext cx="3943350" cy="1500188"/>
            <a:chOff x="0" y="0"/>
            <a:chExt cx="5257800" cy="200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58300" y="7018734"/>
            <a:ext cx="3943350" cy="1500188"/>
            <a:chOff x="0" y="0"/>
            <a:chExt cx="5257800" cy="200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86350" y="7018734"/>
            <a:ext cx="3943350" cy="1500188"/>
            <a:chOff x="0" y="0"/>
            <a:chExt cx="5257800" cy="200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7018734"/>
            <a:ext cx="3943350" cy="1500188"/>
            <a:chOff x="0" y="0"/>
            <a:chExt cx="5257800" cy="200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57800" cy="2000250"/>
            </a:xfrm>
            <a:custGeom>
              <a:avLst/>
              <a:gdLst/>
              <a:ahLst/>
              <a:cxnLst/>
              <a:rect r="r" b="b" t="t" l="l"/>
              <a:pathLst>
                <a:path h="2000250" w="52578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5029200" y="0"/>
                  </a:lnTo>
                  <a:cubicBezTo>
                    <a:pt x="5155438" y="0"/>
                    <a:pt x="5257800" y="102362"/>
                    <a:pt x="5257800" y="228600"/>
                  </a:cubicBezTo>
                  <a:lnTo>
                    <a:pt x="5257800" y="1771650"/>
                  </a:lnTo>
                  <a:cubicBezTo>
                    <a:pt x="5257800" y="1897888"/>
                    <a:pt x="5155438" y="2000250"/>
                    <a:pt x="5029200" y="2000250"/>
                  </a:cubicBezTo>
                  <a:lnTo>
                    <a:pt x="228600" y="2000250"/>
                  </a:lnTo>
                  <a:cubicBezTo>
                    <a:pt x="102362" y="2000250"/>
                    <a:pt x="0" y="1897888"/>
                    <a:pt x="0" y="17716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230475" y="3639741"/>
            <a:ext cx="342900" cy="342900"/>
            <a:chOff x="0" y="0"/>
            <a:chExt cx="457200" cy="4572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83" r="0" b="-208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058525" y="3639741"/>
            <a:ext cx="342900" cy="342900"/>
            <a:chOff x="0" y="0"/>
            <a:chExt cx="457200" cy="4572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83" r="0" b="-208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86575" y="3639741"/>
            <a:ext cx="342900" cy="342900"/>
            <a:chOff x="0" y="0"/>
            <a:chExt cx="457200" cy="4572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83" r="0" b="-2083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693194" y="3639741"/>
            <a:ext cx="385762" cy="342900"/>
            <a:chOff x="0" y="0"/>
            <a:chExt cx="514350" cy="4572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2" r="0" b="-22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5251906" y="7304484"/>
            <a:ext cx="300038" cy="342900"/>
            <a:chOff x="0" y="0"/>
            <a:chExt cx="400050" cy="457200"/>
          </a:xfrm>
        </p:grpSpPr>
        <p:sp>
          <p:nvSpPr>
            <p:cNvPr name="Freeform 27" id="27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5" t="0" r="-285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079956" y="7304484"/>
            <a:ext cx="300038" cy="342900"/>
            <a:chOff x="0" y="0"/>
            <a:chExt cx="400050" cy="457200"/>
          </a:xfrm>
        </p:grpSpPr>
        <p:sp>
          <p:nvSpPr>
            <p:cNvPr name="Freeform 29" id="29" descr="image.png"/>
            <p:cNvSpPr/>
            <p:nvPr/>
          </p:nvSpPr>
          <p:spPr>
            <a:xfrm flipH="false" flipV="false" rot="0">
              <a:off x="0" y="0"/>
              <a:ext cx="400050" cy="457200"/>
            </a:xfrm>
            <a:custGeom>
              <a:avLst/>
              <a:gdLst/>
              <a:ahLst/>
              <a:cxnLst/>
              <a:rect r="r" b="b" t="t" l="l"/>
              <a:pathLst>
                <a:path h="4572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85" t="0" r="-285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865144" y="7304484"/>
            <a:ext cx="385762" cy="342900"/>
            <a:chOff x="0" y="0"/>
            <a:chExt cx="514350" cy="457200"/>
          </a:xfrm>
        </p:grpSpPr>
        <p:sp>
          <p:nvSpPr>
            <p:cNvPr name="Freeform 31" id="31" descr="image.png"/>
            <p:cNvSpPr/>
            <p:nvPr/>
          </p:nvSpPr>
          <p:spPr>
            <a:xfrm flipH="false" flipV="false" rot="0">
              <a:off x="0" y="0"/>
              <a:ext cx="51435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22" r="0" b="-22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757488" y="7304484"/>
            <a:ext cx="257175" cy="342900"/>
            <a:chOff x="0" y="0"/>
            <a:chExt cx="342900" cy="457200"/>
          </a:xfrm>
        </p:grpSpPr>
        <p:sp>
          <p:nvSpPr>
            <p:cNvPr name="Freeform 33" id="33" descr="image.png"/>
            <p:cNvSpPr/>
            <p:nvPr/>
          </p:nvSpPr>
          <p:spPr>
            <a:xfrm flipH="false" flipV="false" rot="0">
              <a:off x="0" y="0"/>
              <a:ext cx="342900" cy="457200"/>
            </a:xfrm>
            <a:custGeom>
              <a:avLst/>
              <a:gdLst/>
              <a:ahLst/>
              <a:cxnLst/>
              <a:rect r="r" b="b" t="t" l="l"/>
              <a:pathLst>
                <a:path h="4572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083" r="0" b="-2083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14400" y="781050"/>
            <a:ext cx="166020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مؤشرات الأداء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0" y="1137405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كيف نقيس نجاح المشروع؟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89144" y="4058841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رضا المستخدمين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017194" y="4058841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نسبة التقييم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45244" y="4058841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دقة وأمان النموذج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73294" y="4058841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التوجيه المناسب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89144" y="7723584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إتمام الجلسات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017194" y="7723584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سرعة الوصول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845244" y="7723584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نتائج التقييمات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3294" y="7723584"/>
            <a:ext cx="4425553" cy="509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سهولة الاستخدام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2443162"/>
            <a:ext cx="16459200" cy="1885950"/>
            <a:chOff x="0" y="0"/>
            <a:chExt cx="21945600" cy="2514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219456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21640800" y="0"/>
                  </a:lnTo>
                  <a:cubicBezTo>
                    <a:pt x="21809075" y="0"/>
                    <a:pt x="21945600" y="136398"/>
                    <a:pt x="21945600" y="304800"/>
                  </a:cubicBezTo>
                  <a:lnTo>
                    <a:pt x="21945600" y="2209800"/>
                  </a:lnTo>
                  <a:cubicBezTo>
                    <a:pt x="21945600" y="2378075"/>
                    <a:pt x="21809202" y="2514600"/>
                    <a:pt x="21640800" y="2514600"/>
                  </a:cubicBezTo>
                  <a:lnTo>
                    <a:pt x="304800" y="2514600"/>
                  </a:lnTo>
                  <a:cubicBezTo>
                    <a:pt x="136525" y="2514600"/>
                    <a:pt x="0" y="2378202"/>
                    <a:pt x="0" y="2209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4672012"/>
            <a:ext cx="16459200" cy="1828800"/>
            <a:chOff x="0" y="0"/>
            <a:chExt cx="2194560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19456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21640800" y="0"/>
                  </a:lnTo>
                  <a:cubicBezTo>
                    <a:pt x="21809075" y="0"/>
                    <a:pt x="21945600" y="136525"/>
                    <a:pt x="21945600" y="304800"/>
                  </a:cubicBezTo>
                  <a:lnTo>
                    <a:pt x="21945600" y="2133600"/>
                  </a:lnTo>
                  <a:cubicBezTo>
                    <a:pt x="21945600" y="2301875"/>
                    <a:pt x="21809075" y="2438400"/>
                    <a:pt x="21640800" y="2438400"/>
                  </a:cubicBezTo>
                  <a:lnTo>
                    <a:pt x="304800" y="2438400"/>
                  </a:lnTo>
                  <a:cubicBezTo>
                    <a:pt x="136525" y="2438400"/>
                    <a:pt x="0" y="2301875"/>
                    <a:pt x="0" y="2133600"/>
                  </a:cubicBezTo>
                  <a:close/>
                </a:path>
              </a:pathLst>
            </a:custGeom>
            <a:solidFill>
              <a:srgbClr val="4A352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287875" y="2443162"/>
            <a:ext cx="85725" cy="1885950"/>
            <a:chOff x="0" y="0"/>
            <a:chExt cx="114300" cy="2514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2514600"/>
            </a:xfrm>
            <a:custGeom>
              <a:avLst/>
              <a:gdLst/>
              <a:ahLst/>
              <a:cxnLst/>
              <a:rect r="r" b="b" t="t" l="l"/>
              <a:pathLst>
                <a:path h="25146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2514600"/>
                  </a:lnTo>
                  <a:lnTo>
                    <a:pt x="0" y="251460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914400" y="781050"/>
            <a:ext cx="16602075" cy="1204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ar-EG" sz="157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الأثر الوطني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195365"/>
            <a:ext cx="17373600" cy="609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ar-EG" sz="360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القيمة التي يقدمها المشروع لليبيا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886079"/>
            <a:ext cx="16916400" cy="4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75"/>
              </a:lnSpc>
            </a:pP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سَنَد</a:t>
            </a:r>
            <a:r>
              <a:rPr lang="en-US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 </a:t>
            </a:r>
            <a:r>
              <a:rPr lang="ar-EG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لا يهدف لمجرد تطبيق رقمي، بل يبني منظومة متكاملة تجمع بين</a:t>
            </a:r>
            <a:r>
              <a:rPr lang="en-US" sz="2250" b="true">
                <a:solidFill>
                  <a:srgbClr val="2C221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7241" y="4914888"/>
            <a:ext cx="16472059" cy="4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00"/>
              </a:lnSpc>
            </a:pPr>
            <a:r>
              <a:rPr lang="ar-EG" sz="2250" b="true">
                <a:solidFill>
                  <a:srgbClr val="D4B896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التحول من العلاج المتمأخر إلى التدخل المبكر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2900" y="5676912"/>
            <a:ext cx="16916400" cy="3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37"/>
              </a:lnSpc>
            </a:pPr>
            <a:r>
              <a:rPr lang="ar-EG" sz="2025">
                <a:solidFill>
                  <a:srgbClr val="F7F3ED"/>
                </a:solidFill>
                <a:latin typeface="Calibri (MS)"/>
                <a:ea typeface="Calibri (MS)"/>
                <a:cs typeface="Calibri (MS)"/>
                <a:sym typeface="Calibri (MS)"/>
                <a:rtl val="true"/>
              </a:rPr>
              <a:t>فهم الضغوط مبكراً وتطوير خدمات دعم أكثر استجابة لاحتياجات الشباب الليبي</a:t>
            </a:r>
            <a:r>
              <a:rPr lang="en-US" sz="2025">
                <a:solidFill>
                  <a:srgbClr val="F7F3ED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59000" y="3519488"/>
            <a:ext cx="246459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الذكاء الاصطناعي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01638" y="3519488"/>
            <a:ext cx="164306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المختصون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2775" y="3519488"/>
            <a:ext cx="2232422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البيانات الوطنية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01012" y="3519488"/>
            <a:ext cx="266104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ar-EG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التكنولوجيا المحلية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30171" y="1484484"/>
            <a:ext cx="5587187" cy="7773816"/>
            <a:chOff x="0" y="0"/>
            <a:chExt cx="755691" cy="10514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5691" cy="1051442"/>
            </a:xfrm>
            <a:custGeom>
              <a:avLst/>
              <a:gdLst/>
              <a:ahLst/>
              <a:cxnLst/>
              <a:rect r="r" b="b" t="t" l="l"/>
              <a:pathLst>
                <a:path h="1051442" w="755691">
                  <a:moveTo>
                    <a:pt x="377845" y="0"/>
                  </a:moveTo>
                  <a:cubicBezTo>
                    <a:pt x="169167" y="0"/>
                    <a:pt x="0" y="235373"/>
                    <a:pt x="0" y="525721"/>
                  </a:cubicBezTo>
                  <a:cubicBezTo>
                    <a:pt x="0" y="816069"/>
                    <a:pt x="169167" y="1051442"/>
                    <a:pt x="377845" y="1051442"/>
                  </a:cubicBezTo>
                  <a:cubicBezTo>
                    <a:pt x="586524" y="1051442"/>
                    <a:pt x="755691" y="816069"/>
                    <a:pt x="755691" y="525721"/>
                  </a:cubicBezTo>
                  <a:cubicBezTo>
                    <a:pt x="755691" y="235373"/>
                    <a:pt x="586524" y="0"/>
                    <a:pt x="377845" y="0"/>
                  </a:cubicBezTo>
                  <a:close/>
                </a:path>
              </a:pathLst>
            </a:custGeom>
            <a:blipFill>
              <a:blip r:embed="rId2"/>
              <a:stretch>
                <a:fillRect l="-23896" t="0" r="-8493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665347" y="1117759"/>
            <a:ext cx="3753241" cy="6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589"/>
              </a:lnSpc>
              <a:spcBef>
                <a:spcPct val="0"/>
              </a:spcBef>
            </a:pPr>
            <a:r>
              <a:rPr lang="ar-EG" b="true" sz="38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مستقبل المشروع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85675" y="2275558"/>
            <a:ext cx="2442090" cy="590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4109"/>
              </a:lnSpc>
              <a:spcBef>
                <a:spcPct val="0"/>
              </a:spcBef>
            </a:pPr>
            <a:r>
              <a:rPr lang="en-US" b="true" sz="34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  <a:r>
              <a:rPr lang="ar-EG" b="true" sz="342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-الجانب الديني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06080" y="3376184"/>
            <a:ext cx="5121686" cy="561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916"/>
              </a:lnSpc>
              <a:spcBef>
                <a:spcPct val="0"/>
              </a:spcBef>
            </a:pPr>
            <a:r>
              <a:rPr lang="en-US" b="true" sz="32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  <a:r>
              <a:rPr lang="ar-EG" b="true" sz="326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-التدريب علْى عدد أكثر من البيانات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44423" y="4601264"/>
            <a:ext cx="4923198" cy="542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3857"/>
              </a:lnSpc>
              <a:spcBef>
                <a:spcPct val="0"/>
              </a:spcBef>
            </a:pPr>
            <a:r>
              <a:rPr lang="en-US" b="true" sz="321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  <a:r>
              <a:rPr lang="ar-EG" b="true" sz="321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-مواكبة المحادثة مع المريض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C06C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15375" y="5944934"/>
            <a:ext cx="857250" cy="42862"/>
            <a:chOff x="0" y="0"/>
            <a:chExt cx="1143000" cy="57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0" cy="57150"/>
            </a:xfrm>
            <a:custGeom>
              <a:avLst/>
              <a:gdLst/>
              <a:ahLst/>
              <a:cxnLst/>
              <a:rect r="r" b="b" t="t" l="l"/>
              <a:pathLst>
                <a:path h="5715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C06C38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29638" y="3460994"/>
            <a:ext cx="1228725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0"/>
              </a:lnSpc>
            </a:pPr>
            <a:r>
              <a:rPr lang="ar-EG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سَنَد</a:t>
            </a:r>
            <a:r>
              <a:rPr lang="en-US" sz="2025" b="true">
                <a:solidFill>
                  <a:srgbClr val="C06C3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5441" y="3899144"/>
            <a:ext cx="16877109" cy="1625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42"/>
              </a:lnSpc>
            </a:pPr>
            <a:r>
              <a:rPr lang="ar-EG" sz="47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لأن التكنولوجيا ليست فقط لتسهيل حياتنا… بل وسيلة للوصول إلى الدعم في الوقت المناسب</a:t>
            </a:r>
            <a:r>
              <a:rPr lang="en-US" sz="4725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8001" y="6378321"/>
            <a:ext cx="2747326" cy="52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ar-EG" b="true" sz="30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ذكاء يفهم المؤشرات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58756" y="6378321"/>
            <a:ext cx="128226" cy="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b="true" sz="3049">
                <a:solidFill>
                  <a:srgbClr val="FFFFFF"/>
                </a:solidFill>
                <a:latin typeface="Tajawal Bold"/>
                <a:ea typeface="Tajawal Bold"/>
                <a:cs typeface="Tajawal Bold"/>
                <a:sym typeface="Tajawal Bold"/>
              </a:rPr>
              <a:t>•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34716" y="6378321"/>
            <a:ext cx="3232947" cy="52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ar-EG" b="true" sz="30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مختصون يقدمون الدعم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15406" y="6378321"/>
            <a:ext cx="128226" cy="528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en-US" b="true" sz="3049">
                <a:solidFill>
                  <a:srgbClr val="FFFFFF"/>
                </a:solidFill>
                <a:latin typeface="Tajawal Bold"/>
                <a:ea typeface="Tajawal Bold"/>
                <a:cs typeface="Tajawal Bold"/>
                <a:sym typeface="Tajawal Bold"/>
              </a:rPr>
              <a:t>•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01685" y="6378321"/>
            <a:ext cx="3483680" cy="52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9"/>
              </a:lnSpc>
            </a:pPr>
            <a:r>
              <a:rPr lang="ar-EG" b="true" sz="30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بيانات لبناء مستقبل أفضل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3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5934071" y="3482615"/>
            <a:ext cx="25359594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695"/>
              </a:lnSpc>
            </a:pPr>
            <a:r>
              <a:rPr lang="ar-EG" b="true" sz="7246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شكرا جزيلا على الإستماع</a:t>
            </a:r>
          </a:p>
          <a:p>
            <a:pPr algn="ctr" rtl="true">
              <a:lnSpc>
                <a:spcPts val="6415"/>
              </a:lnSpc>
              <a:spcBef>
                <a:spcPct val="0"/>
              </a:spcBef>
            </a:pPr>
            <a:r>
              <a:rPr lang="ar-EG" b="true" sz="5346">
                <a:solidFill>
                  <a:srgbClr val="4A3525"/>
                </a:solidFill>
                <a:latin typeface="Calibri (MS) Bold"/>
                <a:ea typeface="Calibri (MS) Bold"/>
                <a:cs typeface="Calibri (MS) Bold"/>
                <a:sym typeface="Calibri (MS) Bold"/>
                <a:rtl val="true"/>
              </a:rPr>
              <a:t>مستعدون للأسئلة إن شاء الله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705282" y="4106494"/>
            <a:ext cx="7281511" cy="728151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8309" r="0" b="-8309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DAHXXi0FXzs</dc:identifier>
  <dcterms:modified xsi:type="dcterms:W3CDTF">2011-08-01T06:04:30Z</dcterms:modified>
  <cp:revision>1</cp:revision>
  <dc:title>سَنَد AI - منصة دعم الصحة النفسية.pptx</dc:title>
</cp:coreProperties>
</file>